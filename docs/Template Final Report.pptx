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D4671C9-3D53-4846-A014-A546F69AEF62}">
  <a:tblStyle styleId="{BD4671C9-3D53-4846-A014-A546F69AEF6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9706cf146_2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f9706cf146_2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3f9706cf146_2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f9706cf146_2_2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g3f9706cf146_2_2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g3f9706cf146_2_2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9706cf146_2_4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g3f9706cf146_2_4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g3f9706cf146_2_4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9706cf146_2_6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g3f9706cf146_2_6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g3f9706cf146_2_6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9706cf146_2_8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3f9706cf146_2_8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3f9706cf146_2_8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9706cf146_2_11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g3f9706cf146_2_11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f9706cf146_2_11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9706cf146_2_14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3f9706cf146_2_14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3f9706cf146_2_14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f9706cf146_2_17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3f9706cf146_2_17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3f9706cf146_2_17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f9706cf146_2_18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3f9706cf146_2_18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3f9706cf146_2_18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9706cf146_2_21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g3f9706cf146_2_21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g3f9706cf146_2_21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f9706cf146_2_23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g3f9706cf146_2_23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g3f9706cf146_2_23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E0B15"/>
        </a:solidFill>
      </p:bgPr>
    </p:bg>
    <p:spTree>
      <p:nvGrpSpPr>
        <p:cNvPr id="56" name="Shape 56"/>
        <p:cNvGrpSpPr/>
        <p:nvPr/>
      </p:nvGrpSpPr>
      <p:grpSpPr>
        <a:xfrm>
          <a:off x="0" y="0"/>
          <a:ext cx="0" cy="0"/>
          <a:chOff x="0" y="0"/>
          <a:chExt cx="0" cy="0"/>
        </a:xfrm>
      </p:grpSpPr>
      <p:sp>
        <p:nvSpPr>
          <p:cNvPr id="57" name="Google Shape;57;p15"/>
          <p:cNvSpPr/>
          <p:nvPr/>
        </p:nvSpPr>
        <p:spPr>
          <a:xfrm>
            <a:off x="0" y="2160270"/>
            <a:ext cx="9141714"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4400"/>
              <a:buFont typeface="Cambria"/>
              <a:buNone/>
            </a:pPr>
            <a:r>
              <a:rPr b="1" i="0" lang="id" sz="4400" u="none" cap="none" strike="noStrike">
                <a:solidFill>
                  <a:srgbClr val="FFFFFF"/>
                </a:solidFill>
                <a:latin typeface="Cambria"/>
                <a:ea typeface="Cambria"/>
                <a:cs typeface="Cambria"/>
                <a:sym typeface="Cambria"/>
              </a:rPr>
              <a:t>FINAL REPORT</a:t>
            </a:r>
            <a:endParaRPr b="0" i="0" sz="4400" u="none" cap="none" strike="noStrike">
              <a:solidFill>
                <a:schemeClr val="dk1"/>
              </a:solidFill>
              <a:latin typeface="Calibri"/>
              <a:ea typeface="Calibri"/>
              <a:cs typeface="Calibri"/>
              <a:sym typeface="Calibri"/>
            </a:endParaRPr>
          </a:p>
        </p:txBody>
      </p:sp>
      <p:sp>
        <p:nvSpPr>
          <p:cNvPr id="58" name="Google Shape;58;p15"/>
          <p:cNvSpPr/>
          <p:nvPr/>
        </p:nvSpPr>
        <p:spPr>
          <a:xfrm>
            <a:off x="0" y="2880360"/>
            <a:ext cx="9141714"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E7C9D0"/>
              </a:buClr>
              <a:buSzPts val="1500"/>
              <a:buFont typeface="Calibri"/>
              <a:buNone/>
            </a:pPr>
            <a:r>
              <a:rPr b="0" i="1" lang="id" sz="1500" u="none" cap="none" strike="noStrike">
                <a:solidFill>
                  <a:srgbClr val="E7C9D0"/>
                </a:solidFill>
                <a:latin typeface="Calibri"/>
                <a:ea typeface="Calibri"/>
                <a:cs typeface="Calibri"/>
                <a:sym typeface="Calibri"/>
              </a:rPr>
              <a:t>Template Laporan Akhir Magang</a:t>
            </a:r>
            <a:endParaRPr b="0" i="0" sz="1500" u="none" cap="none" strike="noStrike">
              <a:solidFill>
                <a:schemeClr val="dk1"/>
              </a:solidFill>
              <a:latin typeface="Calibri"/>
              <a:ea typeface="Calibri"/>
              <a:cs typeface="Calibri"/>
              <a:sym typeface="Calibri"/>
            </a:endParaRPr>
          </a:p>
        </p:txBody>
      </p:sp>
      <p:sp>
        <p:nvSpPr>
          <p:cNvPr id="59" name="Google Shape;59;p15"/>
          <p:cNvSpPr/>
          <p:nvPr/>
        </p:nvSpPr>
        <p:spPr>
          <a:xfrm>
            <a:off x="1028700" y="3669030"/>
            <a:ext cx="1851660" cy="754380"/>
          </a:xfrm>
          <a:prstGeom prst="roundRect">
            <a:avLst>
              <a:gd fmla="val 5455" name="adj"/>
            </a:avLst>
          </a:prstGeom>
          <a:solidFill>
            <a:srgbClr val="5E101C"/>
          </a:solidFill>
          <a:ln cap="flat" cmpd="sng" w="12700">
            <a:solidFill>
              <a:srgbClr val="B030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 name="Google Shape;60;p15"/>
          <p:cNvSpPr/>
          <p:nvPr/>
        </p:nvSpPr>
        <p:spPr>
          <a:xfrm>
            <a:off x="1165860" y="3778758"/>
            <a:ext cx="15773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304A"/>
              </a:buClr>
              <a:buSzPts val="800"/>
              <a:buFont typeface="Calibri"/>
              <a:buNone/>
            </a:pPr>
            <a:r>
              <a:rPr b="1" i="0" lang="id" sz="800" u="none" cap="none" strike="noStrike">
                <a:solidFill>
                  <a:srgbClr val="B0304A"/>
                </a:solidFill>
                <a:latin typeface="Calibri"/>
                <a:ea typeface="Calibri"/>
                <a:cs typeface="Calibri"/>
                <a:sym typeface="Calibri"/>
              </a:rPr>
              <a:t>NAMA MAGANG</a:t>
            </a:r>
            <a:endParaRPr b="0" i="0" sz="800" u="none" cap="none" strike="noStrike">
              <a:solidFill>
                <a:schemeClr val="dk1"/>
              </a:solidFill>
              <a:latin typeface="Calibri"/>
              <a:ea typeface="Calibri"/>
              <a:cs typeface="Calibri"/>
              <a:sym typeface="Calibri"/>
            </a:endParaRPr>
          </a:p>
        </p:txBody>
      </p:sp>
      <p:sp>
        <p:nvSpPr>
          <p:cNvPr id="61" name="Google Shape;61;p15"/>
          <p:cNvSpPr/>
          <p:nvPr/>
        </p:nvSpPr>
        <p:spPr>
          <a:xfrm>
            <a:off x="1165860" y="4011930"/>
            <a:ext cx="157734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0" lang="id" sz="1100" u="none" cap="none" strike="noStrike">
                <a:solidFill>
                  <a:srgbClr val="FFFFFF"/>
                </a:solidFill>
                <a:latin typeface="Calibri"/>
                <a:ea typeface="Calibri"/>
                <a:cs typeface="Calibri"/>
                <a:sym typeface="Calibri"/>
              </a:rPr>
              <a:t>________________</a:t>
            </a:r>
            <a:endParaRPr b="0" i="0" sz="1100" u="none" cap="none" strike="noStrike">
              <a:solidFill>
                <a:schemeClr val="dk1"/>
              </a:solidFill>
              <a:latin typeface="Calibri"/>
              <a:ea typeface="Calibri"/>
              <a:cs typeface="Calibri"/>
              <a:sym typeface="Calibri"/>
            </a:endParaRPr>
          </a:p>
        </p:txBody>
      </p:sp>
      <p:sp>
        <p:nvSpPr>
          <p:cNvPr id="62" name="Google Shape;62;p15"/>
          <p:cNvSpPr/>
          <p:nvPr/>
        </p:nvSpPr>
        <p:spPr>
          <a:xfrm>
            <a:off x="2983230" y="3669030"/>
            <a:ext cx="1851660" cy="754380"/>
          </a:xfrm>
          <a:prstGeom prst="roundRect">
            <a:avLst>
              <a:gd fmla="val 5455" name="adj"/>
            </a:avLst>
          </a:prstGeom>
          <a:solidFill>
            <a:srgbClr val="5E101C"/>
          </a:solidFill>
          <a:ln cap="flat" cmpd="sng" w="12700">
            <a:solidFill>
              <a:srgbClr val="B030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 name="Google Shape;63;p15"/>
          <p:cNvSpPr/>
          <p:nvPr/>
        </p:nvSpPr>
        <p:spPr>
          <a:xfrm>
            <a:off x="3120390" y="3778758"/>
            <a:ext cx="15773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304A"/>
              </a:buClr>
              <a:buSzPts val="800"/>
              <a:buFont typeface="Calibri"/>
              <a:buNone/>
            </a:pPr>
            <a:r>
              <a:rPr b="1" i="0" lang="id" sz="800" u="none" cap="none" strike="noStrike">
                <a:solidFill>
                  <a:srgbClr val="B0304A"/>
                </a:solidFill>
                <a:latin typeface="Calibri"/>
                <a:ea typeface="Calibri"/>
                <a:cs typeface="Calibri"/>
                <a:sym typeface="Calibri"/>
              </a:rPr>
              <a:t>TOPIK</a:t>
            </a:r>
            <a:endParaRPr b="0" i="0" sz="800" u="none" cap="none" strike="noStrike">
              <a:solidFill>
                <a:schemeClr val="dk1"/>
              </a:solidFill>
              <a:latin typeface="Calibri"/>
              <a:ea typeface="Calibri"/>
              <a:cs typeface="Calibri"/>
              <a:sym typeface="Calibri"/>
            </a:endParaRPr>
          </a:p>
        </p:txBody>
      </p:sp>
      <p:sp>
        <p:nvSpPr>
          <p:cNvPr id="64" name="Google Shape;64;p15"/>
          <p:cNvSpPr/>
          <p:nvPr/>
        </p:nvSpPr>
        <p:spPr>
          <a:xfrm>
            <a:off x="3120390" y="4011930"/>
            <a:ext cx="157734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0" lang="id" sz="1100" u="none" cap="none" strike="noStrike">
                <a:solidFill>
                  <a:srgbClr val="FFFFFF"/>
                </a:solidFill>
                <a:latin typeface="Calibri"/>
                <a:ea typeface="Calibri"/>
                <a:cs typeface="Calibri"/>
                <a:sym typeface="Calibri"/>
              </a:rPr>
              <a:t>________________</a:t>
            </a:r>
            <a:endParaRPr b="0" i="0" sz="1100" u="none" cap="none" strike="noStrike">
              <a:solidFill>
                <a:schemeClr val="dk1"/>
              </a:solidFill>
              <a:latin typeface="Calibri"/>
              <a:ea typeface="Calibri"/>
              <a:cs typeface="Calibri"/>
              <a:sym typeface="Calibri"/>
            </a:endParaRPr>
          </a:p>
        </p:txBody>
      </p:sp>
      <p:sp>
        <p:nvSpPr>
          <p:cNvPr id="65" name="Google Shape;65;p15"/>
          <p:cNvSpPr/>
          <p:nvPr/>
        </p:nvSpPr>
        <p:spPr>
          <a:xfrm>
            <a:off x="4937760" y="3669030"/>
            <a:ext cx="1851660" cy="754380"/>
          </a:xfrm>
          <a:prstGeom prst="roundRect">
            <a:avLst>
              <a:gd fmla="val 5455" name="adj"/>
            </a:avLst>
          </a:prstGeom>
          <a:solidFill>
            <a:srgbClr val="5E101C"/>
          </a:solidFill>
          <a:ln cap="flat" cmpd="sng" w="12700">
            <a:solidFill>
              <a:srgbClr val="B030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6" name="Google Shape;66;p15"/>
          <p:cNvSpPr/>
          <p:nvPr/>
        </p:nvSpPr>
        <p:spPr>
          <a:xfrm>
            <a:off x="5074920" y="3778758"/>
            <a:ext cx="15773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304A"/>
              </a:buClr>
              <a:buSzPts val="800"/>
              <a:buFont typeface="Calibri"/>
              <a:buNone/>
            </a:pPr>
            <a:r>
              <a:rPr b="1" i="0" lang="id" sz="800" u="none" cap="none" strike="noStrike">
                <a:solidFill>
                  <a:srgbClr val="B0304A"/>
                </a:solidFill>
                <a:latin typeface="Calibri"/>
                <a:ea typeface="Calibri"/>
                <a:cs typeface="Calibri"/>
                <a:sym typeface="Calibri"/>
              </a:rPr>
              <a:t>SUPERVISOR</a:t>
            </a:r>
            <a:endParaRPr b="0" i="0" sz="800" u="none" cap="none" strike="noStrike">
              <a:solidFill>
                <a:schemeClr val="dk1"/>
              </a:solidFill>
              <a:latin typeface="Calibri"/>
              <a:ea typeface="Calibri"/>
              <a:cs typeface="Calibri"/>
              <a:sym typeface="Calibri"/>
            </a:endParaRPr>
          </a:p>
        </p:txBody>
      </p:sp>
      <p:sp>
        <p:nvSpPr>
          <p:cNvPr id="67" name="Google Shape;67;p15"/>
          <p:cNvSpPr/>
          <p:nvPr/>
        </p:nvSpPr>
        <p:spPr>
          <a:xfrm>
            <a:off x="5074920" y="4011930"/>
            <a:ext cx="157734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0" lang="id" sz="1100" u="none" cap="none" strike="noStrike">
                <a:solidFill>
                  <a:srgbClr val="FFFFFF"/>
                </a:solidFill>
                <a:latin typeface="Calibri"/>
                <a:ea typeface="Calibri"/>
                <a:cs typeface="Calibri"/>
                <a:sym typeface="Calibri"/>
              </a:rPr>
              <a:t>________________</a:t>
            </a:r>
            <a:endParaRPr b="0" i="0" sz="1100" u="none" cap="none" strike="noStrike">
              <a:solidFill>
                <a:schemeClr val="dk1"/>
              </a:solidFill>
              <a:latin typeface="Calibri"/>
              <a:ea typeface="Calibri"/>
              <a:cs typeface="Calibri"/>
              <a:sym typeface="Calibri"/>
            </a:endParaRPr>
          </a:p>
        </p:txBody>
      </p:sp>
      <p:sp>
        <p:nvSpPr>
          <p:cNvPr id="68" name="Google Shape;68;p15"/>
          <p:cNvSpPr/>
          <p:nvPr/>
        </p:nvSpPr>
        <p:spPr>
          <a:xfrm>
            <a:off x="6892290" y="3669030"/>
            <a:ext cx="1851660" cy="754380"/>
          </a:xfrm>
          <a:prstGeom prst="roundRect">
            <a:avLst>
              <a:gd fmla="val 5455" name="adj"/>
            </a:avLst>
          </a:prstGeom>
          <a:solidFill>
            <a:srgbClr val="5E101C"/>
          </a:solidFill>
          <a:ln cap="flat" cmpd="sng" w="12700">
            <a:solidFill>
              <a:srgbClr val="B030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9" name="Google Shape;69;p15"/>
          <p:cNvSpPr/>
          <p:nvPr/>
        </p:nvSpPr>
        <p:spPr>
          <a:xfrm>
            <a:off x="7029450" y="3778758"/>
            <a:ext cx="15773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304A"/>
              </a:buClr>
              <a:buSzPts val="800"/>
              <a:buFont typeface="Calibri"/>
              <a:buNone/>
            </a:pPr>
            <a:r>
              <a:rPr b="1" i="0" lang="id" sz="800" u="none" cap="none" strike="noStrike">
                <a:solidFill>
                  <a:srgbClr val="B0304A"/>
                </a:solidFill>
                <a:latin typeface="Calibri"/>
                <a:ea typeface="Calibri"/>
                <a:cs typeface="Calibri"/>
                <a:sym typeface="Calibri"/>
              </a:rPr>
              <a:t>STATUS</a:t>
            </a:r>
            <a:endParaRPr b="0" i="0" sz="800" u="none" cap="none" strike="noStrike">
              <a:solidFill>
                <a:schemeClr val="dk1"/>
              </a:solidFill>
              <a:latin typeface="Calibri"/>
              <a:ea typeface="Calibri"/>
              <a:cs typeface="Calibri"/>
              <a:sym typeface="Calibri"/>
            </a:endParaRPr>
          </a:p>
        </p:txBody>
      </p:sp>
      <p:sp>
        <p:nvSpPr>
          <p:cNvPr id="70" name="Google Shape;70;p15"/>
          <p:cNvSpPr/>
          <p:nvPr/>
        </p:nvSpPr>
        <p:spPr>
          <a:xfrm>
            <a:off x="7029450" y="4011930"/>
            <a:ext cx="157734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0" lang="id" sz="1100" u="none" cap="none" strike="noStrike">
                <a:solidFill>
                  <a:srgbClr val="FFFFFF"/>
                </a:solidFill>
                <a:latin typeface="Calibri"/>
                <a:ea typeface="Calibri"/>
                <a:cs typeface="Calibri"/>
                <a:sym typeface="Calibri"/>
              </a:rPr>
              <a:t>Draft</a:t>
            </a:r>
            <a:endParaRPr b="0" i="0" sz="1100" u="none" cap="none" strike="noStrike">
              <a:solidFill>
                <a:schemeClr val="dk1"/>
              </a:solidFill>
              <a:latin typeface="Calibri"/>
              <a:ea typeface="Calibri"/>
              <a:cs typeface="Calibri"/>
              <a:sym typeface="Calibri"/>
            </a:endParaRPr>
          </a:p>
        </p:txBody>
      </p:sp>
      <p:sp>
        <p:nvSpPr>
          <p:cNvPr id="71" name="Google Shape;71;p15"/>
          <p:cNvSpPr/>
          <p:nvPr/>
        </p:nvSpPr>
        <p:spPr>
          <a:xfrm>
            <a:off x="1028700" y="4526280"/>
            <a:ext cx="75438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7C9D0"/>
              </a:buClr>
              <a:buSzPts val="900"/>
              <a:buFont typeface="Calibri"/>
              <a:buNone/>
            </a:pPr>
            <a:r>
              <a:rPr b="0" i="1" lang="id" sz="900" u="none" cap="none" strike="noStrike">
                <a:solidFill>
                  <a:srgbClr val="E7C9D0"/>
                </a:solidFill>
                <a:latin typeface="Calibri"/>
                <a:ea typeface="Calibri"/>
                <a:cs typeface="Calibri"/>
                <a:sym typeface="Calibri"/>
              </a:rPr>
              <a:t>Target Hardware:  Grove Vision AI V2 (Cortex-M55 + Ethos-U55)</a:t>
            </a:r>
            <a:endParaRPr b="0" i="0" sz="900" u="none" cap="none" strike="noStrike">
              <a:solidFill>
                <a:schemeClr val="dk1"/>
              </a:solidFill>
              <a:latin typeface="Calibri"/>
              <a:ea typeface="Calibri"/>
              <a:cs typeface="Calibri"/>
              <a:sym typeface="Calibri"/>
            </a:endParaRPr>
          </a:p>
        </p:txBody>
      </p:sp>
      <p:sp>
        <p:nvSpPr>
          <p:cNvPr id="72" name="Google Shape;72;p15"/>
          <p:cNvSpPr/>
          <p:nvPr/>
        </p:nvSpPr>
        <p:spPr>
          <a:xfrm>
            <a:off x="3783300" y="538625"/>
            <a:ext cx="1577400" cy="1387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3" name="Google Shape;73;p15"/>
          <p:cNvPicPr preferRelativeResize="0"/>
          <p:nvPr/>
        </p:nvPicPr>
        <p:blipFill>
          <a:blip r:embed="rId3">
            <a:alphaModFix/>
          </a:blip>
          <a:stretch>
            <a:fillRect/>
          </a:stretch>
        </p:blipFill>
        <p:spPr>
          <a:xfrm>
            <a:off x="3828986" y="564764"/>
            <a:ext cx="1483749" cy="13355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 name="Shape 78"/>
        <p:cNvGrpSpPr/>
        <p:nvPr/>
      </p:nvGrpSpPr>
      <p:grpSpPr>
        <a:xfrm>
          <a:off x="0" y="0"/>
          <a:ext cx="0" cy="0"/>
          <a:chOff x="0" y="0"/>
          <a:chExt cx="0" cy="0"/>
        </a:xfrm>
      </p:grpSpPr>
      <p:sp>
        <p:nvSpPr>
          <p:cNvPr id="79" name="Google Shape;79;p16"/>
          <p:cNvSpPr/>
          <p:nvPr/>
        </p:nvSpPr>
        <p:spPr>
          <a:xfrm>
            <a:off x="411480" y="377190"/>
            <a:ext cx="617220" cy="617220"/>
          </a:xfrm>
          <a:prstGeom prst="rect">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0" name="Google Shape;80;p16"/>
          <p:cNvSpPr/>
          <p:nvPr/>
        </p:nvSpPr>
        <p:spPr>
          <a:xfrm>
            <a:off x="411480" y="377190"/>
            <a:ext cx="617220"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id" sz="2600" u="none" cap="none" strike="noStrike">
                <a:solidFill>
                  <a:srgbClr val="FFFFFF"/>
                </a:solidFill>
                <a:latin typeface="Cambria"/>
                <a:ea typeface="Cambria"/>
                <a:cs typeface="Cambria"/>
                <a:sym typeface="Cambria"/>
              </a:rPr>
              <a:t>i</a:t>
            </a:r>
            <a:endParaRPr b="0" i="0" sz="2600" u="none" cap="none" strike="noStrike">
              <a:solidFill>
                <a:schemeClr val="dk1"/>
              </a:solidFill>
              <a:latin typeface="Calibri"/>
              <a:ea typeface="Calibri"/>
              <a:cs typeface="Calibri"/>
              <a:sym typeface="Calibri"/>
            </a:endParaRPr>
          </a:p>
        </p:txBody>
      </p:sp>
      <p:sp>
        <p:nvSpPr>
          <p:cNvPr id="81" name="Google Shape;81;p16"/>
          <p:cNvSpPr/>
          <p:nvPr/>
        </p:nvSpPr>
        <p:spPr>
          <a:xfrm>
            <a:off x="1200150" y="377190"/>
            <a:ext cx="753008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2300"/>
              <a:buFont typeface="Cambria"/>
              <a:buNone/>
            </a:pPr>
            <a:r>
              <a:rPr b="1" i="0" lang="id" sz="2300" u="none" cap="none" strike="noStrike">
                <a:solidFill>
                  <a:srgbClr val="7A1220"/>
                </a:solidFill>
                <a:latin typeface="Cambria"/>
                <a:ea typeface="Cambria"/>
                <a:cs typeface="Cambria"/>
                <a:sym typeface="Cambria"/>
              </a:rPr>
              <a:t>Cara Menggunakan Template Ini</a:t>
            </a:r>
            <a:endParaRPr b="0" i="0" sz="2300" u="none" cap="none" strike="noStrike">
              <a:solidFill>
                <a:schemeClr val="dk1"/>
              </a:solidFill>
              <a:latin typeface="Calibri"/>
              <a:ea typeface="Calibri"/>
              <a:cs typeface="Calibri"/>
              <a:sym typeface="Calibri"/>
            </a:endParaRPr>
          </a:p>
        </p:txBody>
      </p:sp>
      <p:sp>
        <p:nvSpPr>
          <p:cNvPr id="82" name="Google Shape;82;p16"/>
          <p:cNvSpPr/>
          <p:nvPr/>
        </p:nvSpPr>
        <p:spPr>
          <a:xfrm>
            <a:off x="411480" y="1234440"/>
            <a:ext cx="8318754" cy="2468880"/>
          </a:xfrm>
          <a:prstGeom prst="rect">
            <a:avLst/>
          </a:prstGeom>
          <a:noFill/>
          <a:ln>
            <a:noFill/>
          </a:ln>
        </p:spPr>
        <p:txBody>
          <a:bodyPr anchorCtr="0" anchor="t" bIns="34275" lIns="68575" spcFirstLastPara="1" rIns="68575" wrap="square" tIns="34275">
            <a:noAutofit/>
          </a:bodyPr>
          <a:lstStyle/>
          <a:p>
            <a:pPr indent="-254000" lvl="0" marL="254000" marR="0" rtl="0" algn="l">
              <a:lnSpc>
                <a:spcPct val="110000"/>
              </a:lnSpc>
              <a:spcBef>
                <a:spcPts val="0"/>
              </a:spcBef>
              <a:spcAft>
                <a:spcPts val="0"/>
              </a:spcAft>
              <a:buClr>
                <a:srgbClr val="2B2B2B"/>
              </a:buClr>
              <a:buSzPts val="1200"/>
              <a:buFont typeface="Calibri"/>
              <a:buChar char="•"/>
            </a:pPr>
            <a:r>
              <a:rPr b="0" i="0" lang="id" sz="1200" u="none" cap="none" strike="noStrike">
                <a:solidFill>
                  <a:srgbClr val="2B2B2B"/>
                </a:solidFill>
                <a:latin typeface="Calibri"/>
                <a:ea typeface="Calibri"/>
                <a:cs typeface="Calibri"/>
                <a:sym typeface="Calibri"/>
              </a:rPr>
              <a:t>Ganti setiap kotak panduan (teks miring) dengan isi laporan Anda, lalu hapus label panduannya.</a:t>
            </a:r>
            <a:endParaRPr b="0" i="0" sz="1200" u="none" cap="none" strike="noStrike">
              <a:solidFill>
                <a:schemeClr val="dk1"/>
              </a:solidFill>
              <a:latin typeface="Calibri"/>
              <a:ea typeface="Calibri"/>
              <a:cs typeface="Calibri"/>
              <a:sym typeface="Calibri"/>
            </a:endParaRPr>
          </a:p>
          <a:p>
            <a:pPr indent="-254000" lvl="0" marL="254000" marR="0" rtl="0" algn="l">
              <a:lnSpc>
                <a:spcPct val="110000"/>
              </a:lnSpc>
              <a:spcBef>
                <a:spcPts val="800"/>
              </a:spcBef>
              <a:spcAft>
                <a:spcPts val="0"/>
              </a:spcAft>
              <a:buClr>
                <a:srgbClr val="2B2B2B"/>
              </a:buClr>
              <a:buSzPts val="1200"/>
              <a:buFont typeface="Calibri"/>
              <a:buChar char="•"/>
            </a:pPr>
            <a:r>
              <a:rPr b="0" i="0" lang="id" sz="1200" u="none" cap="none" strike="noStrike">
                <a:solidFill>
                  <a:srgbClr val="2B2B2B"/>
                </a:solidFill>
                <a:latin typeface="Calibri"/>
                <a:ea typeface="Calibri"/>
                <a:cs typeface="Calibri"/>
                <a:sym typeface="Calibri"/>
              </a:rPr>
              <a:t>Bagian 1–7 wajib diisi. Bagian bertanda OPSIONAL (signal processing, ablation, live monitoring) diisi hanya jika relevan dengan topik Anda.</a:t>
            </a:r>
            <a:endParaRPr b="0" i="0" sz="1200" u="none" cap="none" strike="noStrike">
              <a:solidFill>
                <a:schemeClr val="dk1"/>
              </a:solidFill>
              <a:latin typeface="Calibri"/>
              <a:ea typeface="Calibri"/>
              <a:cs typeface="Calibri"/>
              <a:sym typeface="Calibri"/>
            </a:endParaRPr>
          </a:p>
          <a:p>
            <a:pPr indent="-254000" lvl="0" marL="254000" marR="0" rtl="0" algn="l">
              <a:lnSpc>
                <a:spcPct val="110000"/>
              </a:lnSpc>
              <a:spcBef>
                <a:spcPts val="800"/>
              </a:spcBef>
              <a:spcAft>
                <a:spcPts val="0"/>
              </a:spcAft>
              <a:buClr>
                <a:srgbClr val="2B2B2B"/>
              </a:buClr>
              <a:buSzPts val="1200"/>
              <a:buFont typeface="Calibri"/>
              <a:buChar char="•"/>
            </a:pPr>
            <a:r>
              <a:rPr b="0" i="0" lang="id" sz="1200" u="none" cap="none" strike="noStrike">
                <a:solidFill>
                  <a:srgbClr val="2B2B2B"/>
                </a:solidFill>
                <a:latin typeface="Calibri"/>
                <a:ea typeface="Calibri"/>
                <a:cs typeface="Calibri"/>
                <a:sym typeface="Calibri"/>
              </a:rPr>
              <a:t>Jaga slide tetap ringkas — 3–5 poin per slide. Sertakan diagram, tabel, atau grafik daripada paragraf panjang.</a:t>
            </a:r>
            <a:endParaRPr b="0" i="0" sz="1200" u="none" cap="none" strike="noStrike">
              <a:solidFill>
                <a:schemeClr val="dk1"/>
              </a:solidFill>
              <a:latin typeface="Calibri"/>
              <a:ea typeface="Calibri"/>
              <a:cs typeface="Calibri"/>
              <a:sym typeface="Calibri"/>
            </a:endParaRPr>
          </a:p>
          <a:p>
            <a:pPr indent="-254000" lvl="0" marL="254000" marR="0" rtl="0" algn="l">
              <a:lnSpc>
                <a:spcPct val="110000"/>
              </a:lnSpc>
              <a:spcBef>
                <a:spcPts val="800"/>
              </a:spcBef>
              <a:spcAft>
                <a:spcPts val="0"/>
              </a:spcAft>
              <a:buClr>
                <a:srgbClr val="2B2B2B"/>
              </a:buClr>
              <a:buSzPts val="1200"/>
              <a:buFont typeface="Calibri"/>
              <a:buChar char="•"/>
            </a:pPr>
            <a:r>
              <a:rPr b="0" i="0" lang="id" sz="1200" u="none" cap="none" strike="noStrike">
                <a:solidFill>
                  <a:srgbClr val="2B2B2B"/>
                </a:solidFill>
                <a:latin typeface="Calibri"/>
                <a:ea typeface="Calibri"/>
                <a:cs typeface="Calibri"/>
                <a:sym typeface="Calibri"/>
              </a:rPr>
              <a:t>Tabel Standard Metric Summary (Bagian 6) bersifat wajib — satu baris per varian model yang di-deploy.</a:t>
            </a:r>
            <a:endParaRPr b="0" i="0" sz="1200" u="none" cap="none" strike="noStrike">
              <a:solidFill>
                <a:schemeClr val="dk1"/>
              </a:solidFill>
              <a:latin typeface="Calibri"/>
              <a:ea typeface="Calibri"/>
              <a:cs typeface="Calibri"/>
              <a:sym typeface="Calibri"/>
            </a:endParaRPr>
          </a:p>
        </p:txBody>
      </p:sp>
      <p:sp>
        <p:nvSpPr>
          <p:cNvPr id="83" name="Google Shape;83;p16"/>
          <p:cNvSpPr/>
          <p:nvPr/>
        </p:nvSpPr>
        <p:spPr>
          <a:xfrm>
            <a:off x="411480" y="3806190"/>
            <a:ext cx="8318754" cy="651510"/>
          </a:xfrm>
          <a:prstGeom prst="roundRect">
            <a:avLst>
              <a:gd fmla="val 6316" name="adj"/>
            </a:avLst>
          </a:prstGeom>
          <a:solidFill>
            <a:srgbClr val="F7EBEE"/>
          </a:solidFill>
          <a:ln cap="flat" cmpd="sng" w="12700">
            <a:solidFill>
              <a:srgbClr val="E9CE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4" name="Google Shape;84;p16"/>
          <p:cNvSpPr/>
          <p:nvPr/>
        </p:nvSpPr>
        <p:spPr>
          <a:xfrm>
            <a:off x="582930" y="3895344"/>
            <a:ext cx="797585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1000"/>
              <a:buFont typeface="Calibri"/>
              <a:buNone/>
            </a:pPr>
            <a:r>
              <a:rPr b="1" i="0" lang="id" sz="1000" u="none" cap="none" strike="noStrike">
                <a:solidFill>
                  <a:srgbClr val="7A1220"/>
                </a:solidFill>
                <a:latin typeface="Calibri"/>
                <a:ea typeface="Calibri"/>
                <a:cs typeface="Calibri"/>
                <a:sym typeface="Calibri"/>
              </a:rPr>
              <a:t>Tips presentasi:  </a:t>
            </a:r>
            <a:r>
              <a:rPr b="0" i="1" lang="id" sz="1000" u="none" cap="none" strike="noStrike">
                <a:solidFill>
                  <a:srgbClr val="8A6A70"/>
                </a:solidFill>
                <a:latin typeface="Calibri"/>
                <a:ea typeface="Calibri"/>
                <a:cs typeface="Calibri"/>
                <a:sym typeface="Calibri"/>
              </a:rPr>
              <a:t>buka dengan hasil utama Anda, tutup dengan tantangan &amp; rekomendasi untuk intern berikutnya. Audiens mengingat angka dan gambar, bukan teks.</a:t>
            </a:r>
            <a:endParaRPr b="0" i="0" sz="1000" u="none" cap="none" strike="noStrike">
              <a:solidFill>
                <a:schemeClr val="dk1"/>
              </a:solidFill>
              <a:latin typeface="Calibri"/>
              <a:ea typeface="Calibri"/>
              <a:cs typeface="Calibri"/>
              <a:sym typeface="Calibri"/>
            </a:endParaRPr>
          </a:p>
        </p:txBody>
      </p:sp>
      <p:sp>
        <p:nvSpPr>
          <p:cNvPr id="85" name="Google Shape;85;p16"/>
          <p:cNvSpPr/>
          <p:nvPr/>
        </p:nvSpPr>
        <p:spPr>
          <a:xfrm>
            <a:off x="411480" y="481431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ICDeC — Final Report Template</a:t>
            </a:r>
            <a:endParaRPr b="0" i="0" sz="700" u="none" cap="none" strike="noStrike">
              <a:solidFill>
                <a:schemeClr val="dk1"/>
              </a:solidFill>
              <a:latin typeface="Calibri"/>
              <a:ea typeface="Calibri"/>
              <a:cs typeface="Calibri"/>
              <a:sym typeface="Calibri"/>
            </a:endParaRPr>
          </a:p>
        </p:txBody>
      </p:sp>
      <p:sp>
        <p:nvSpPr>
          <p:cNvPr id="86" name="Google Shape;86;p16"/>
          <p:cNvSpPr/>
          <p:nvPr/>
        </p:nvSpPr>
        <p:spPr>
          <a:xfrm>
            <a:off x="8044434" y="4814316"/>
            <a:ext cx="6858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17"/>
          <p:cNvSpPr/>
          <p:nvPr/>
        </p:nvSpPr>
        <p:spPr>
          <a:xfrm>
            <a:off x="411480" y="377190"/>
            <a:ext cx="617220" cy="617220"/>
          </a:xfrm>
          <a:prstGeom prst="rect">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3" name="Google Shape;93;p17"/>
          <p:cNvSpPr/>
          <p:nvPr/>
        </p:nvSpPr>
        <p:spPr>
          <a:xfrm>
            <a:off x="411480" y="377190"/>
            <a:ext cx="617220"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id" sz="2600" u="none" cap="none" strike="noStrike">
                <a:solidFill>
                  <a:srgbClr val="FFFFFF"/>
                </a:solidFill>
                <a:latin typeface="Cambria"/>
                <a:ea typeface="Cambria"/>
                <a:cs typeface="Cambria"/>
                <a:sym typeface="Cambria"/>
              </a:rPr>
              <a:t>1</a:t>
            </a:r>
            <a:endParaRPr b="0" i="0" sz="2600" u="none" cap="none" strike="noStrike">
              <a:solidFill>
                <a:schemeClr val="dk1"/>
              </a:solidFill>
              <a:latin typeface="Calibri"/>
              <a:ea typeface="Calibri"/>
              <a:cs typeface="Calibri"/>
              <a:sym typeface="Calibri"/>
            </a:endParaRPr>
          </a:p>
        </p:txBody>
      </p:sp>
      <p:sp>
        <p:nvSpPr>
          <p:cNvPr id="94" name="Google Shape;94;p17"/>
          <p:cNvSpPr/>
          <p:nvPr/>
        </p:nvSpPr>
        <p:spPr>
          <a:xfrm>
            <a:off x="1200150" y="377190"/>
            <a:ext cx="753008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2300"/>
              <a:buFont typeface="Cambria"/>
              <a:buNone/>
            </a:pPr>
            <a:r>
              <a:rPr b="1" i="0" lang="id" sz="2300" u="none" cap="none" strike="noStrike">
                <a:solidFill>
                  <a:srgbClr val="7A1220"/>
                </a:solidFill>
                <a:latin typeface="Cambria"/>
                <a:ea typeface="Cambria"/>
                <a:cs typeface="Cambria"/>
                <a:sym typeface="Cambria"/>
              </a:rPr>
              <a:t>Overview</a:t>
            </a:r>
            <a:endParaRPr b="0" i="0" sz="2300" u="none" cap="none" strike="noStrike">
              <a:solidFill>
                <a:schemeClr val="dk1"/>
              </a:solidFill>
              <a:latin typeface="Calibri"/>
              <a:ea typeface="Calibri"/>
              <a:cs typeface="Calibri"/>
              <a:sym typeface="Calibri"/>
            </a:endParaRPr>
          </a:p>
        </p:txBody>
      </p:sp>
      <p:sp>
        <p:nvSpPr>
          <p:cNvPr id="95" name="Google Shape;95;p17"/>
          <p:cNvSpPr/>
          <p:nvPr/>
        </p:nvSpPr>
        <p:spPr>
          <a:xfrm>
            <a:off x="411480" y="1200150"/>
            <a:ext cx="8318754" cy="1165860"/>
          </a:xfrm>
          <a:prstGeom prst="roundRect">
            <a:avLst>
              <a:gd fmla="val 3529" name="adj"/>
            </a:avLst>
          </a:prstGeom>
          <a:solidFill>
            <a:srgbClr val="F7EBEE"/>
          </a:solidFill>
          <a:ln cap="flat" cmpd="sng" w="12700">
            <a:solidFill>
              <a:srgbClr val="E9CE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6" name="Google Shape;96;p17"/>
          <p:cNvSpPr/>
          <p:nvPr/>
        </p:nvSpPr>
        <p:spPr>
          <a:xfrm>
            <a:off x="582930" y="1309878"/>
            <a:ext cx="797585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800"/>
              <a:buFont typeface="Calibri"/>
              <a:buNone/>
            </a:pPr>
            <a:r>
              <a:rPr b="1" i="0" lang="id" sz="800" u="none" cap="none" strike="noStrike">
                <a:solidFill>
                  <a:srgbClr val="7A1220"/>
                </a:solidFill>
                <a:latin typeface="Calibri"/>
                <a:ea typeface="Calibri"/>
                <a:cs typeface="Calibri"/>
                <a:sym typeface="Calibri"/>
              </a:rPr>
              <a:t>PANDUAN — isi bagian ini</a:t>
            </a:r>
            <a:endParaRPr b="0" i="0" sz="800" u="none" cap="none" strike="noStrike">
              <a:solidFill>
                <a:schemeClr val="dk1"/>
              </a:solidFill>
              <a:latin typeface="Calibri"/>
              <a:ea typeface="Calibri"/>
              <a:cs typeface="Calibri"/>
              <a:sym typeface="Calibri"/>
            </a:endParaRPr>
          </a:p>
        </p:txBody>
      </p:sp>
      <p:sp>
        <p:nvSpPr>
          <p:cNvPr id="97" name="Google Shape;97;p17"/>
          <p:cNvSpPr/>
          <p:nvPr/>
        </p:nvSpPr>
        <p:spPr>
          <a:xfrm>
            <a:off x="582930" y="1556766"/>
            <a:ext cx="7975854" cy="6720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Topik, tujuan, sensor yang digunakan, dan target hardware. Tulis 3–5 kalimat yang menjelaskan APA yang Anda bangun dan MENGAPA.</a:t>
            </a:r>
            <a:endParaRPr b="0" i="0" sz="1000" u="none" cap="none" strike="noStrike">
              <a:solidFill>
                <a:schemeClr val="dk1"/>
              </a:solidFill>
              <a:latin typeface="Calibri"/>
              <a:ea typeface="Calibri"/>
              <a:cs typeface="Calibri"/>
              <a:sym typeface="Calibri"/>
            </a:endParaRPr>
          </a:p>
        </p:txBody>
      </p:sp>
      <p:sp>
        <p:nvSpPr>
          <p:cNvPr id="98" name="Google Shape;98;p17"/>
          <p:cNvSpPr/>
          <p:nvPr/>
        </p:nvSpPr>
        <p:spPr>
          <a:xfrm>
            <a:off x="411480" y="2571750"/>
            <a:ext cx="2635758" cy="1645920"/>
          </a:xfrm>
          <a:prstGeom prst="roundRect">
            <a:avLst>
              <a:gd fmla="val 3333" name="adj"/>
            </a:avLst>
          </a:prstGeom>
          <a:solidFill>
            <a:srgbClr val="FBF4F6"/>
          </a:solidFill>
          <a:ln cap="flat" cmpd="sng" w="12700">
            <a:solidFill>
              <a:srgbClr val="EAD3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 name="Google Shape;99;p17"/>
          <p:cNvSpPr/>
          <p:nvPr/>
        </p:nvSpPr>
        <p:spPr>
          <a:xfrm>
            <a:off x="651510" y="2811780"/>
            <a:ext cx="377190" cy="377190"/>
          </a:xfrm>
          <a:prstGeom prst="ellipse">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0" name="Google Shape;100;p17"/>
          <p:cNvSpPr/>
          <p:nvPr/>
        </p:nvSpPr>
        <p:spPr>
          <a:xfrm>
            <a:off x="651510" y="2811780"/>
            <a:ext cx="377190" cy="3771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id" sz="1500" u="none" cap="none" strike="noStrike">
                <a:solidFill>
                  <a:srgbClr val="FFFFFF"/>
                </a:solidFill>
                <a:latin typeface="Cambria"/>
                <a:ea typeface="Cambria"/>
                <a:cs typeface="Cambria"/>
                <a:sym typeface="Cambria"/>
              </a:rPr>
              <a:t>1</a:t>
            </a:r>
            <a:endParaRPr b="0" i="0" sz="1500" u="none" cap="none" strike="noStrike">
              <a:solidFill>
                <a:schemeClr val="dk1"/>
              </a:solidFill>
              <a:latin typeface="Calibri"/>
              <a:ea typeface="Calibri"/>
              <a:cs typeface="Calibri"/>
              <a:sym typeface="Calibri"/>
            </a:endParaRPr>
          </a:p>
        </p:txBody>
      </p:sp>
      <p:sp>
        <p:nvSpPr>
          <p:cNvPr id="101" name="Google Shape;101;p17"/>
          <p:cNvSpPr/>
          <p:nvPr/>
        </p:nvSpPr>
        <p:spPr>
          <a:xfrm>
            <a:off x="651510" y="3326130"/>
            <a:ext cx="2155698"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1000"/>
              <a:buFont typeface="Calibri"/>
              <a:buNone/>
            </a:pPr>
            <a:r>
              <a:rPr b="1" i="0" lang="id" sz="1000" u="none" cap="none" strike="noStrike">
                <a:solidFill>
                  <a:srgbClr val="7A1220"/>
                </a:solidFill>
                <a:latin typeface="Calibri"/>
                <a:ea typeface="Calibri"/>
                <a:cs typeface="Calibri"/>
                <a:sym typeface="Calibri"/>
              </a:rPr>
              <a:t>TUJUAN</a:t>
            </a:r>
            <a:endParaRPr b="0" i="0" sz="1000" u="none" cap="none" strike="noStrike">
              <a:solidFill>
                <a:schemeClr val="dk1"/>
              </a:solidFill>
              <a:latin typeface="Calibri"/>
              <a:ea typeface="Calibri"/>
              <a:cs typeface="Calibri"/>
              <a:sym typeface="Calibri"/>
            </a:endParaRPr>
          </a:p>
        </p:txBody>
      </p:sp>
      <p:sp>
        <p:nvSpPr>
          <p:cNvPr id="102" name="Google Shape;102;p17"/>
          <p:cNvSpPr/>
          <p:nvPr/>
        </p:nvSpPr>
        <p:spPr>
          <a:xfrm>
            <a:off x="651510" y="3600450"/>
            <a:ext cx="2155698"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Apa yang ingin dicapai?</a:t>
            </a:r>
            <a:endParaRPr b="0" i="0" sz="1000" u="none" cap="none" strike="noStrike">
              <a:solidFill>
                <a:schemeClr val="dk1"/>
              </a:solidFill>
              <a:latin typeface="Calibri"/>
              <a:ea typeface="Calibri"/>
              <a:cs typeface="Calibri"/>
              <a:sym typeface="Calibri"/>
            </a:endParaRPr>
          </a:p>
        </p:txBody>
      </p:sp>
      <p:sp>
        <p:nvSpPr>
          <p:cNvPr id="103" name="Google Shape;103;p17"/>
          <p:cNvSpPr/>
          <p:nvPr/>
        </p:nvSpPr>
        <p:spPr>
          <a:xfrm>
            <a:off x="3252978" y="2571750"/>
            <a:ext cx="2635758" cy="1645920"/>
          </a:xfrm>
          <a:prstGeom prst="roundRect">
            <a:avLst>
              <a:gd fmla="val 3333" name="adj"/>
            </a:avLst>
          </a:prstGeom>
          <a:solidFill>
            <a:srgbClr val="FBF4F6"/>
          </a:solidFill>
          <a:ln cap="flat" cmpd="sng" w="12700">
            <a:solidFill>
              <a:srgbClr val="EAD3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 name="Google Shape;104;p17"/>
          <p:cNvSpPr/>
          <p:nvPr/>
        </p:nvSpPr>
        <p:spPr>
          <a:xfrm>
            <a:off x="3493008" y="2811780"/>
            <a:ext cx="377190" cy="377190"/>
          </a:xfrm>
          <a:prstGeom prst="ellipse">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5" name="Google Shape;105;p17"/>
          <p:cNvSpPr/>
          <p:nvPr/>
        </p:nvSpPr>
        <p:spPr>
          <a:xfrm>
            <a:off x="3493008" y="2811780"/>
            <a:ext cx="377190" cy="3771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id" sz="1500" u="none" cap="none" strike="noStrike">
                <a:solidFill>
                  <a:srgbClr val="FFFFFF"/>
                </a:solidFill>
                <a:latin typeface="Cambria"/>
                <a:ea typeface="Cambria"/>
                <a:cs typeface="Cambria"/>
                <a:sym typeface="Cambria"/>
              </a:rPr>
              <a:t>2</a:t>
            </a:r>
            <a:endParaRPr b="0" i="0" sz="1500" u="none" cap="none" strike="noStrike">
              <a:solidFill>
                <a:schemeClr val="dk1"/>
              </a:solidFill>
              <a:latin typeface="Calibri"/>
              <a:ea typeface="Calibri"/>
              <a:cs typeface="Calibri"/>
              <a:sym typeface="Calibri"/>
            </a:endParaRPr>
          </a:p>
        </p:txBody>
      </p:sp>
      <p:sp>
        <p:nvSpPr>
          <p:cNvPr id="106" name="Google Shape;106;p17"/>
          <p:cNvSpPr/>
          <p:nvPr/>
        </p:nvSpPr>
        <p:spPr>
          <a:xfrm>
            <a:off x="3493008" y="3326130"/>
            <a:ext cx="2155698"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1000"/>
              <a:buFont typeface="Calibri"/>
              <a:buNone/>
            </a:pPr>
            <a:r>
              <a:rPr b="1" i="0" lang="id" sz="1000" u="none" cap="none" strike="noStrike">
                <a:solidFill>
                  <a:srgbClr val="7A1220"/>
                </a:solidFill>
                <a:latin typeface="Calibri"/>
                <a:ea typeface="Calibri"/>
                <a:cs typeface="Calibri"/>
                <a:sym typeface="Calibri"/>
              </a:rPr>
              <a:t>SENSOR</a:t>
            </a:r>
            <a:endParaRPr b="0" i="0" sz="1000" u="none" cap="none" strike="noStrike">
              <a:solidFill>
                <a:schemeClr val="dk1"/>
              </a:solidFill>
              <a:latin typeface="Calibri"/>
              <a:ea typeface="Calibri"/>
              <a:cs typeface="Calibri"/>
              <a:sym typeface="Calibri"/>
            </a:endParaRPr>
          </a:p>
        </p:txBody>
      </p:sp>
      <p:sp>
        <p:nvSpPr>
          <p:cNvPr id="107" name="Google Shape;107;p17"/>
          <p:cNvSpPr/>
          <p:nvPr/>
        </p:nvSpPr>
        <p:spPr>
          <a:xfrm>
            <a:off x="3493008" y="3600450"/>
            <a:ext cx="2155698"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Sensor / modalitas data</a:t>
            </a:r>
            <a:endParaRPr b="0" i="0" sz="1000" u="none" cap="none" strike="noStrike">
              <a:solidFill>
                <a:schemeClr val="dk1"/>
              </a:solidFill>
              <a:latin typeface="Calibri"/>
              <a:ea typeface="Calibri"/>
              <a:cs typeface="Calibri"/>
              <a:sym typeface="Calibri"/>
            </a:endParaRPr>
          </a:p>
        </p:txBody>
      </p:sp>
      <p:sp>
        <p:nvSpPr>
          <p:cNvPr id="108" name="Google Shape;108;p17"/>
          <p:cNvSpPr/>
          <p:nvPr/>
        </p:nvSpPr>
        <p:spPr>
          <a:xfrm>
            <a:off x="6094476" y="2571750"/>
            <a:ext cx="2635758" cy="1645920"/>
          </a:xfrm>
          <a:prstGeom prst="roundRect">
            <a:avLst>
              <a:gd fmla="val 3333" name="adj"/>
            </a:avLst>
          </a:prstGeom>
          <a:solidFill>
            <a:srgbClr val="FBF4F6"/>
          </a:solidFill>
          <a:ln cap="flat" cmpd="sng" w="12700">
            <a:solidFill>
              <a:srgbClr val="EAD3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 name="Google Shape;109;p17"/>
          <p:cNvSpPr/>
          <p:nvPr/>
        </p:nvSpPr>
        <p:spPr>
          <a:xfrm>
            <a:off x="6334506" y="2811780"/>
            <a:ext cx="377190" cy="377190"/>
          </a:xfrm>
          <a:prstGeom prst="ellipse">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0" name="Google Shape;110;p17"/>
          <p:cNvSpPr/>
          <p:nvPr/>
        </p:nvSpPr>
        <p:spPr>
          <a:xfrm>
            <a:off x="6334506" y="2811780"/>
            <a:ext cx="377190" cy="3771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id" sz="1500" u="none" cap="none" strike="noStrike">
                <a:solidFill>
                  <a:srgbClr val="FFFFFF"/>
                </a:solidFill>
                <a:latin typeface="Cambria"/>
                <a:ea typeface="Cambria"/>
                <a:cs typeface="Cambria"/>
                <a:sym typeface="Cambria"/>
              </a:rPr>
              <a:t>3</a:t>
            </a:r>
            <a:endParaRPr b="0" i="0" sz="1500" u="none" cap="none" strike="noStrike">
              <a:solidFill>
                <a:schemeClr val="dk1"/>
              </a:solidFill>
              <a:latin typeface="Calibri"/>
              <a:ea typeface="Calibri"/>
              <a:cs typeface="Calibri"/>
              <a:sym typeface="Calibri"/>
            </a:endParaRPr>
          </a:p>
        </p:txBody>
      </p:sp>
      <p:sp>
        <p:nvSpPr>
          <p:cNvPr id="111" name="Google Shape;111;p17"/>
          <p:cNvSpPr/>
          <p:nvPr/>
        </p:nvSpPr>
        <p:spPr>
          <a:xfrm>
            <a:off x="6334506" y="3326130"/>
            <a:ext cx="2155698"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1000"/>
              <a:buFont typeface="Calibri"/>
              <a:buNone/>
            </a:pPr>
            <a:r>
              <a:rPr b="1" i="0" lang="id" sz="1000" u="none" cap="none" strike="noStrike">
                <a:solidFill>
                  <a:srgbClr val="7A1220"/>
                </a:solidFill>
                <a:latin typeface="Calibri"/>
                <a:ea typeface="Calibri"/>
                <a:cs typeface="Calibri"/>
                <a:sym typeface="Calibri"/>
              </a:rPr>
              <a:t>TARGET HW</a:t>
            </a:r>
            <a:endParaRPr b="0" i="0" sz="1000" u="none" cap="none" strike="noStrike">
              <a:solidFill>
                <a:schemeClr val="dk1"/>
              </a:solidFill>
              <a:latin typeface="Calibri"/>
              <a:ea typeface="Calibri"/>
              <a:cs typeface="Calibri"/>
              <a:sym typeface="Calibri"/>
            </a:endParaRPr>
          </a:p>
        </p:txBody>
      </p:sp>
      <p:sp>
        <p:nvSpPr>
          <p:cNvPr id="112" name="Google Shape;112;p17"/>
          <p:cNvSpPr/>
          <p:nvPr/>
        </p:nvSpPr>
        <p:spPr>
          <a:xfrm>
            <a:off x="6334506" y="3600450"/>
            <a:ext cx="2155698"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Grove Vision AI V2</a:t>
            </a:r>
            <a:endParaRPr b="0" i="0" sz="1000" u="none" cap="none" strike="noStrike">
              <a:solidFill>
                <a:schemeClr val="dk1"/>
              </a:solidFill>
              <a:latin typeface="Calibri"/>
              <a:ea typeface="Calibri"/>
              <a:cs typeface="Calibri"/>
              <a:sym typeface="Calibri"/>
            </a:endParaRPr>
          </a:p>
        </p:txBody>
      </p:sp>
      <p:sp>
        <p:nvSpPr>
          <p:cNvPr id="113" name="Google Shape;113;p17"/>
          <p:cNvSpPr/>
          <p:nvPr/>
        </p:nvSpPr>
        <p:spPr>
          <a:xfrm>
            <a:off x="411480" y="481431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ICDeC — Final Report Template</a:t>
            </a:r>
            <a:endParaRPr b="0" i="0" sz="700" u="none" cap="none" strike="noStrike">
              <a:solidFill>
                <a:schemeClr val="dk1"/>
              </a:solidFill>
              <a:latin typeface="Calibri"/>
              <a:ea typeface="Calibri"/>
              <a:cs typeface="Calibri"/>
              <a:sym typeface="Calibri"/>
            </a:endParaRPr>
          </a:p>
        </p:txBody>
      </p:sp>
      <p:sp>
        <p:nvSpPr>
          <p:cNvPr id="114" name="Google Shape;114;p17"/>
          <p:cNvSpPr/>
          <p:nvPr/>
        </p:nvSpPr>
        <p:spPr>
          <a:xfrm>
            <a:off x="8044434" y="4814316"/>
            <a:ext cx="6858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3</a:t>
            </a:r>
            <a:endParaRPr b="0" i="0" sz="700" u="none" cap="none" strike="noStrike">
              <a:solidFill>
                <a:schemeClr val="dk1"/>
              </a:solidFill>
              <a:latin typeface="Calibri"/>
              <a:ea typeface="Calibri"/>
              <a:cs typeface="Calibri"/>
              <a:sym typeface="Calibri"/>
            </a:endParaRPr>
          </a:p>
        </p:txBody>
      </p:sp>
      <p:pic>
        <p:nvPicPr>
          <p:cNvPr id="115" name="Google Shape;115;p17"/>
          <p:cNvPicPr preferRelativeResize="0"/>
          <p:nvPr/>
        </p:nvPicPr>
        <p:blipFill>
          <a:blip r:embed="rId3">
            <a:alphaModFix/>
          </a:blip>
          <a:stretch>
            <a:fillRect/>
          </a:stretch>
        </p:blipFill>
        <p:spPr>
          <a:xfrm>
            <a:off x="7980249" y="0"/>
            <a:ext cx="1163763" cy="10474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sp>
        <p:nvSpPr>
          <p:cNvPr id="121" name="Google Shape;121;p18"/>
          <p:cNvSpPr/>
          <p:nvPr/>
        </p:nvSpPr>
        <p:spPr>
          <a:xfrm>
            <a:off x="411480" y="377190"/>
            <a:ext cx="617220" cy="617220"/>
          </a:xfrm>
          <a:prstGeom prst="rect">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 name="Google Shape;122;p18"/>
          <p:cNvSpPr/>
          <p:nvPr/>
        </p:nvSpPr>
        <p:spPr>
          <a:xfrm>
            <a:off x="411480" y="377190"/>
            <a:ext cx="617220"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id" sz="2600" u="none" cap="none" strike="noStrike">
                <a:solidFill>
                  <a:srgbClr val="FFFFFF"/>
                </a:solidFill>
                <a:latin typeface="Cambria"/>
                <a:ea typeface="Cambria"/>
                <a:cs typeface="Cambria"/>
                <a:sym typeface="Cambria"/>
              </a:rPr>
              <a:t>2</a:t>
            </a:r>
            <a:endParaRPr b="0" i="0" sz="2600" u="none" cap="none" strike="noStrike">
              <a:solidFill>
                <a:schemeClr val="dk1"/>
              </a:solidFill>
              <a:latin typeface="Calibri"/>
              <a:ea typeface="Calibri"/>
              <a:cs typeface="Calibri"/>
              <a:sym typeface="Calibri"/>
            </a:endParaRPr>
          </a:p>
        </p:txBody>
      </p:sp>
      <p:sp>
        <p:nvSpPr>
          <p:cNvPr id="123" name="Google Shape;123;p18"/>
          <p:cNvSpPr/>
          <p:nvPr/>
        </p:nvSpPr>
        <p:spPr>
          <a:xfrm>
            <a:off x="1200150" y="377190"/>
            <a:ext cx="753008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2300"/>
              <a:buFont typeface="Cambria"/>
              <a:buNone/>
            </a:pPr>
            <a:r>
              <a:rPr b="1" i="0" lang="id" sz="2300" u="none" cap="none" strike="noStrike">
                <a:solidFill>
                  <a:srgbClr val="7A1220"/>
                </a:solidFill>
                <a:latin typeface="Cambria"/>
                <a:ea typeface="Cambria"/>
                <a:cs typeface="Cambria"/>
                <a:sym typeface="Cambria"/>
              </a:rPr>
              <a:t>Background</a:t>
            </a:r>
            <a:endParaRPr b="0" i="0" sz="2300" u="none" cap="none" strike="noStrike">
              <a:solidFill>
                <a:schemeClr val="dk1"/>
              </a:solidFill>
              <a:latin typeface="Calibri"/>
              <a:ea typeface="Calibri"/>
              <a:cs typeface="Calibri"/>
              <a:sym typeface="Calibri"/>
            </a:endParaRPr>
          </a:p>
        </p:txBody>
      </p:sp>
      <p:sp>
        <p:nvSpPr>
          <p:cNvPr id="124" name="Google Shape;124;p18"/>
          <p:cNvSpPr/>
          <p:nvPr/>
        </p:nvSpPr>
        <p:spPr>
          <a:xfrm>
            <a:off x="411480" y="1200150"/>
            <a:ext cx="8318754" cy="1371600"/>
          </a:xfrm>
          <a:prstGeom prst="roundRect">
            <a:avLst>
              <a:gd fmla="val 3000" name="adj"/>
            </a:avLst>
          </a:prstGeom>
          <a:solidFill>
            <a:srgbClr val="F7EBEE"/>
          </a:solidFill>
          <a:ln cap="flat" cmpd="sng" w="12700">
            <a:solidFill>
              <a:srgbClr val="E9CE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5" name="Google Shape;125;p18"/>
          <p:cNvSpPr/>
          <p:nvPr/>
        </p:nvSpPr>
        <p:spPr>
          <a:xfrm>
            <a:off x="582930" y="1309878"/>
            <a:ext cx="797585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800"/>
              <a:buFont typeface="Calibri"/>
              <a:buNone/>
            </a:pPr>
            <a:r>
              <a:rPr b="1" i="0" lang="id" sz="800" u="none" cap="none" strike="noStrike">
                <a:solidFill>
                  <a:srgbClr val="7A1220"/>
                </a:solidFill>
                <a:latin typeface="Calibri"/>
                <a:ea typeface="Calibri"/>
                <a:cs typeface="Calibri"/>
                <a:sym typeface="Calibri"/>
              </a:rPr>
              <a:t>PANDUAN — isi bagian ini</a:t>
            </a:r>
            <a:endParaRPr b="0" i="0" sz="800" u="none" cap="none" strike="noStrike">
              <a:solidFill>
                <a:schemeClr val="dk1"/>
              </a:solidFill>
              <a:latin typeface="Calibri"/>
              <a:ea typeface="Calibri"/>
              <a:cs typeface="Calibri"/>
              <a:sym typeface="Calibri"/>
            </a:endParaRPr>
          </a:p>
        </p:txBody>
      </p:sp>
      <p:sp>
        <p:nvSpPr>
          <p:cNvPr id="126" name="Google Shape;126;p18"/>
          <p:cNvSpPr/>
          <p:nvPr/>
        </p:nvSpPr>
        <p:spPr>
          <a:xfrm>
            <a:off x="582930" y="1556766"/>
            <a:ext cx="7975854" cy="87782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Mengapa masalah ini penting dan metrik yang relevan dengan domain (mis. akurasi yang berguna secara klinis, benchmark standar di literatur). Fokus pada esensi yang menjustifikasi keputusan desain Anda nanti — ini BUKAN tinjauan pustaka.</a:t>
            </a:r>
            <a:endParaRPr b="0" i="0" sz="1000" u="none" cap="none" strike="noStrike">
              <a:solidFill>
                <a:schemeClr val="dk1"/>
              </a:solidFill>
              <a:latin typeface="Calibri"/>
              <a:ea typeface="Calibri"/>
              <a:cs typeface="Calibri"/>
              <a:sym typeface="Calibri"/>
            </a:endParaRPr>
          </a:p>
        </p:txBody>
      </p:sp>
      <p:sp>
        <p:nvSpPr>
          <p:cNvPr id="127" name="Google Shape;127;p18"/>
          <p:cNvSpPr/>
          <p:nvPr/>
        </p:nvSpPr>
        <p:spPr>
          <a:xfrm>
            <a:off x="411480" y="2846070"/>
            <a:ext cx="2635758" cy="1474470"/>
          </a:xfrm>
          <a:prstGeom prst="roundRect">
            <a:avLst>
              <a:gd fmla="val 3721" name="adj"/>
            </a:avLst>
          </a:prstGeom>
          <a:solidFill>
            <a:srgbClr val="FBF4F6"/>
          </a:solidFill>
          <a:ln cap="flat" cmpd="sng" w="12700">
            <a:solidFill>
              <a:srgbClr val="EAD3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8" name="Google Shape;128;p18"/>
          <p:cNvSpPr/>
          <p:nvPr/>
        </p:nvSpPr>
        <p:spPr>
          <a:xfrm>
            <a:off x="617220" y="3051810"/>
            <a:ext cx="2224278"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A1220"/>
              </a:buClr>
              <a:buSzPts val="1200"/>
              <a:buFont typeface="Cambria"/>
              <a:buNone/>
            </a:pPr>
            <a:r>
              <a:rPr b="1" i="0" lang="id" sz="1200" u="none" cap="none" strike="noStrike">
                <a:solidFill>
                  <a:srgbClr val="7A1220"/>
                </a:solidFill>
                <a:latin typeface="Cambria"/>
                <a:ea typeface="Cambria"/>
                <a:cs typeface="Cambria"/>
                <a:sym typeface="Cambria"/>
              </a:rPr>
              <a:t>Mengapa penting?</a:t>
            </a:r>
            <a:endParaRPr b="0" i="0" sz="1200" u="none" cap="none" strike="noStrike">
              <a:solidFill>
                <a:schemeClr val="dk1"/>
              </a:solidFill>
              <a:latin typeface="Calibri"/>
              <a:ea typeface="Calibri"/>
              <a:cs typeface="Calibri"/>
              <a:sym typeface="Calibri"/>
            </a:endParaRPr>
          </a:p>
        </p:txBody>
      </p:sp>
      <p:sp>
        <p:nvSpPr>
          <p:cNvPr id="129" name="Google Shape;129;p18"/>
          <p:cNvSpPr/>
          <p:nvPr/>
        </p:nvSpPr>
        <p:spPr>
          <a:xfrm>
            <a:off x="617220" y="3566160"/>
            <a:ext cx="2224278"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Konteks &amp; dampak masalah</a:t>
            </a:r>
            <a:endParaRPr b="0" i="0" sz="1000" u="none" cap="none" strike="noStrike">
              <a:solidFill>
                <a:schemeClr val="dk1"/>
              </a:solidFill>
              <a:latin typeface="Calibri"/>
              <a:ea typeface="Calibri"/>
              <a:cs typeface="Calibri"/>
              <a:sym typeface="Calibri"/>
            </a:endParaRPr>
          </a:p>
        </p:txBody>
      </p:sp>
      <p:sp>
        <p:nvSpPr>
          <p:cNvPr id="130" name="Google Shape;130;p18"/>
          <p:cNvSpPr/>
          <p:nvPr/>
        </p:nvSpPr>
        <p:spPr>
          <a:xfrm>
            <a:off x="3252978" y="2846070"/>
            <a:ext cx="2635758" cy="1474470"/>
          </a:xfrm>
          <a:prstGeom prst="roundRect">
            <a:avLst>
              <a:gd fmla="val 3721" name="adj"/>
            </a:avLst>
          </a:prstGeom>
          <a:solidFill>
            <a:srgbClr val="FBF4F6"/>
          </a:solidFill>
          <a:ln cap="flat" cmpd="sng" w="12700">
            <a:solidFill>
              <a:srgbClr val="EAD3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1" name="Google Shape;131;p18"/>
          <p:cNvSpPr/>
          <p:nvPr/>
        </p:nvSpPr>
        <p:spPr>
          <a:xfrm>
            <a:off x="3458718" y="3051810"/>
            <a:ext cx="2224278"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A1220"/>
              </a:buClr>
              <a:buSzPts val="1200"/>
              <a:buFont typeface="Cambria"/>
              <a:buNone/>
            </a:pPr>
            <a:r>
              <a:rPr b="1" i="0" lang="id" sz="1200" u="none" cap="none" strike="noStrike">
                <a:solidFill>
                  <a:srgbClr val="7A1220"/>
                </a:solidFill>
                <a:latin typeface="Cambria"/>
                <a:ea typeface="Cambria"/>
                <a:cs typeface="Cambria"/>
                <a:sym typeface="Cambria"/>
              </a:rPr>
              <a:t>Metrik domain</a:t>
            </a:r>
            <a:endParaRPr b="0" i="0" sz="1200" u="none" cap="none" strike="noStrike">
              <a:solidFill>
                <a:schemeClr val="dk1"/>
              </a:solidFill>
              <a:latin typeface="Calibri"/>
              <a:ea typeface="Calibri"/>
              <a:cs typeface="Calibri"/>
              <a:sym typeface="Calibri"/>
            </a:endParaRPr>
          </a:p>
        </p:txBody>
      </p:sp>
      <p:sp>
        <p:nvSpPr>
          <p:cNvPr id="132" name="Google Shape;132;p18"/>
          <p:cNvSpPr/>
          <p:nvPr/>
        </p:nvSpPr>
        <p:spPr>
          <a:xfrm>
            <a:off x="3458718" y="3566160"/>
            <a:ext cx="2224278"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Apa yang dianggap 'cukup baik'?</a:t>
            </a:r>
            <a:endParaRPr b="0" i="0" sz="1000" u="none" cap="none" strike="noStrike">
              <a:solidFill>
                <a:schemeClr val="dk1"/>
              </a:solidFill>
              <a:latin typeface="Calibri"/>
              <a:ea typeface="Calibri"/>
              <a:cs typeface="Calibri"/>
              <a:sym typeface="Calibri"/>
            </a:endParaRPr>
          </a:p>
        </p:txBody>
      </p:sp>
      <p:sp>
        <p:nvSpPr>
          <p:cNvPr id="133" name="Google Shape;133;p18"/>
          <p:cNvSpPr/>
          <p:nvPr/>
        </p:nvSpPr>
        <p:spPr>
          <a:xfrm>
            <a:off x="6094476" y="2846070"/>
            <a:ext cx="2635758" cy="1474470"/>
          </a:xfrm>
          <a:prstGeom prst="roundRect">
            <a:avLst>
              <a:gd fmla="val 3721" name="adj"/>
            </a:avLst>
          </a:prstGeom>
          <a:solidFill>
            <a:srgbClr val="FBF4F6"/>
          </a:solidFill>
          <a:ln cap="flat" cmpd="sng" w="12700">
            <a:solidFill>
              <a:srgbClr val="EAD3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4" name="Google Shape;134;p18"/>
          <p:cNvSpPr/>
          <p:nvPr/>
        </p:nvSpPr>
        <p:spPr>
          <a:xfrm>
            <a:off x="6300216" y="3051810"/>
            <a:ext cx="2224278"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A1220"/>
              </a:buClr>
              <a:buSzPts val="1200"/>
              <a:buFont typeface="Cambria"/>
              <a:buNone/>
            </a:pPr>
            <a:r>
              <a:rPr b="1" i="0" lang="id" sz="1200" u="none" cap="none" strike="noStrike">
                <a:solidFill>
                  <a:srgbClr val="7A1220"/>
                </a:solidFill>
                <a:latin typeface="Cambria"/>
                <a:ea typeface="Cambria"/>
                <a:cs typeface="Cambria"/>
                <a:sym typeface="Cambria"/>
              </a:rPr>
              <a:t>Benchmark</a:t>
            </a:r>
            <a:endParaRPr b="0" i="0" sz="1200" u="none" cap="none" strike="noStrike">
              <a:solidFill>
                <a:schemeClr val="dk1"/>
              </a:solidFill>
              <a:latin typeface="Calibri"/>
              <a:ea typeface="Calibri"/>
              <a:cs typeface="Calibri"/>
              <a:sym typeface="Calibri"/>
            </a:endParaRPr>
          </a:p>
        </p:txBody>
      </p:sp>
      <p:sp>
        <p:nvSpPr>
          <p:cNvPr id="135" name="Google Shape;135;p18"/>
          <p:cNvSpPr/>
          <p:nvPr/>
        </p:nvSpPr>
        <p:spPr>
          <a:xfrm>
            <a:off x="6300216" y="3566160"/>
            <a:ext cx="2224278" cy="617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Acuan dari literatur</a:t>
            </a:r>
            <a:endParaRPr b="0" i="0" sz="1000" u="none" cap="none" strike="noStrike">
              <a:solidFill>
                <a:schemeClr val="dk1"/>
              </a:solidFill>
              <a:latin typeface="Calibri"/>
              <a:ea typeface="Calibri"/>
              <a:cs typeface="Calibri"/>
              <a:sym typeface="Calibri"/>
            </a:endParaRPr>
          </a:p>
        </p:txBody>
      </p:sp>
      <p:sp>
        <p:nvSpPr>
          <p:cNvPr id="136" name="Google Shape;136;p18"/>
          <p:cNvSpPr/>
          <p:nvPr/>
        </p:nvSpPr>
        <p:spPr>
          <a:xfrm>
            <a:off x="411480" y="481431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ICDeC — Final Report Template</a:t>
            </a:r>
            <a:endParaRPr b="0" i="0" sz="700" u="none" cap="none" strike="noStrike">
              <a:solidFill>
                <a:schemeClr val="dk1"/>
              </a:solidFill>
              <a:latin typeface="Calibri"/>
              <a:ea typeface="Calibri"/>
              <a:cs typeface="Calibri"/>
              <a:sym typeface="Calibri"/>
            </a:endParaRPr>
          </a:p>
        </p:txBody>
      </p:sp>
      <p:sp>
        <p:nvSpPr>
          <p:cNvPr id="137" name="Google Shape;137;p18"/>
          <p:cNvSpPr/>
          <p:nvPr/>
        </p:nvSpPr>
        <p:spPr>
          <a:xfrm>
            <a:off x="8044434" y="4814316"/>
            <a:ext cx="6858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4</a:t>
            </a:r>
            <a:endParaRPr b="0" i="0" sz="700" u="none" cap="none" strike="noStrike">
              <a:solidFill>
                <a:schemeClr val="dk1"/>
              </a:solidFill>
              <a:latin typeface="Calibri"/>
              <a:ea typeface="Calibri"/>
              <a:cs typeface="Calibri"/>
              <a:sym typeface="Calibri"/>
            </a:endParaRPr>
          </a:p>
        </p:txBody>
      </p:sp>
      <p:pic>
        <p:nvPicPr>
          <p:cNvPr id="138" name="Google Shape;138;p18"/>
          <p:cNvPicPr preferRelativeResize="0"/>
          <p:nvPr/>
        </p:nvPicPr>
        <p:blipFill>
          <a:blip r:embed="rId3">
            <a:alphaModFix/>
          </a:blip>
          <a:stretch>
            <a:fillRect/>
          </a:stretch>
        </p:blipFill>
        <p:spPr>
          <a:xfrm>
            <a:off x="7980249" y="0"/>
            <a:ext cx="1163763" cy="1047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19"/>
          <p:cNvSpPr/>
          <p:nvPr/>
        </p:nvSpPr>
        <p:spPr>
          <a:xfrm>
            <a:off x="411480" y="377190"/>
            <a:ext cx="617220" cy="617220"/>
          </a:xfrm>
          <a:prstGeom prst="rect">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5" name="Google Shape;145;p19"/>
          <p:cNvSpPr/>
          <p:nvPr/>
        </p:nvSpPr>
        <p:spPr>
          <a:xfrm>
            <a:off x="411480" y="377190"/>
            <a:ext cx="617220"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id" sz="2600" u="none" cap="none" strike="noStrike">
                <a:solidFill>
                  <a:srgbClr val="FFFFFF"/>
                </a:solidFill>
                <a:latin typeface="Cambria"/>
                <a:ea typeface="Cambria"/>
                <a:cs typeface="Cambria"/>
                <a:sym typeface="Cambria"/>
              </a:rPr>
              <a:t>3</a:t>
            </a:r>
            <a:endParaRPr b="0" i="0" sz="2600" u="none" cap="none" strike="noStrike">
              <a:solidFill>
                <a:schemeClr val="dk1"/>
              </a:solidFill>
              <a:latin typeface="Calibri"/>
              <a:ea typeface="Calibri"/>
              <a:cs typeface="Calibri"/>
              <a:sym typeface="Calibri"/>
            </a:endParaRPr>
          </a:p>
        </p:txBody>
      </p:sp>
      <p:sp>
        <p:nvSpPr>
          <p:cNvPr id="146" name="Google Shape;146;p19"/>
          <p:cNvSpPr/>
          <p:nvPr/>
        </p:nvSpPr>
        <p:spPr>
          <a:xfrm>
            <a:off x="1200150" y="377190"/>
            <a:ext cx="753008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2300"/>
              <a:buFont typeface="Cambria"/>
              <a:buNone/>
            </a:pPr>
            <a:r>
              <a:rPr b="1" i="0" lang="id" sz="2300" u="none" cap="none" strike="noStrike">
                <a:solidFill>
                  <a:srgbClr val="7A1220"/>
                </a:solidFill>
                <a:latin typeface="Cambria"/>
                <a:ea typeface="Cambria"/>
                <a:cs typeface="Cambria"/>
                <a:sym typeface="Cambria"/>
              </a:rPr>
              <a:t>Dataset &amp; Preprocessing</a:t>
            </a:r>
            <a:endParaRPr b="0" i="0" sz="2300" u="none" cap="none" strike="noStrike">
              <a:solidFill>
                <a:schemeClr val="dk1"/>
              </a:solidFill>
              <a:latin typeface="Calibri"/>
              <a:ea typeface="Calibri"/>
              <a:cs typeface="Calibri"/>
              <a:sym typeface="Calibri"/>
            </a:endParaRPr>
          </a:p>
        </p:txBody>
      </p:sp>
      <p:sp>
        <p:nvSpPr>
          <p:cNvPr id="147" name="Google Shape;147;p19"/>
          <p:cNvSpPr/>
          <p:nvPr/>
        </p:nvSpPr>
        <p:spPr>
          <a:xfrm>
            <a:off x="411480" y="1165860"/>
            <a:ext cx="8318754" cy="1337310"/>
          </a:xfrm>
          <a:prstGeom prst="roundRect">
            <a:avLst>
              <a:gd fmla="val 3077" name="adj"/>
            </a:avLst>
          </a:prstGeom>
          <a:solidFill>
            <a:srgbClr val="F7EBEE"/>
          </a:solidFill>
          <a:ln cap="flat" cmpd="sng" w="12700">
            <a:solidFill>
              <a:srgbClr val="E9CE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8" name="Google Shape;148;p19"/>
          <p:cNvSpPr/>
          <p:nvPr/>
        </p:nvSpPr>
        <p:spPr>
          <a:xfrm>
            <a:off x="582930" y="1275588"/>
            <a:ext cx="797585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800"/>
              <a:buFont typeface="Calibri"/>
              <a:buNone/>
            </a:pPr>
            <a:r>
              <a:rPr b="1" i="0" lang="id" sz="800" u="none" cap="none" strike="noStrike">
                <a:solidFill>
                  <a:srgbClr val="7A1220"/>
                </a:solidFill>
                <a:latin typeface="Calibri"/>
                <a:ea typeface="Calibri"/>
                <a:cs typeface="Calibri"/>
                <a:sym typeface="Calibri"/>
              </a:rPr>
              <a:t>PANDUAN — isi bagian ini</a:t>
            </a:r>
            <a:endParaRPr b="0" i="0" sz="800" u="none" cap="none" strike="noStrike">
              <a:solidFill>
                <a:schemeClr val="dk1"/>
              </a:solidFill>
              <a:latin typeface="Calibri"/>
              <a:ea typeface="Calibri"/>
              <a:cs typeface="Calibri"/>
              <a:sym typeface="Calibri"/>
            </a:endParaRPr>
          </a:p>
        </p:txBody>
      </p:sp>
      <p:sp>
        <p:nvSpPr>
          <p:cNvPr id="149" name="Google Shape;149;p19"/>
          <p:cNvSpPr/>
          <p:nvPr/>
        </p:nvSpPr>
        <p:spPr>
          <a:xfrm>
            <a:off x="582930" y="1522476"/>
            <a:ext cx="7975854" cy="84353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Nama/sumber dataset, ukuran, jumlah subjek, sampling rate, label, skema split (mis. LOSO), keseimbangan kelas jika relevan. Langkah preprocessing: filtering, windowing, normalisasi, augmentasi. Catat apa yang berjalan di firmware C on-device vs. hanya di sisi Python saat training.</a:t>
            </a:r>
            <a:endParaRPr b="0" i="0" sz="1000" u="none" cap="none" strike="noStrike">
              <a:solidFill>
                <a:schemeClr val="dk1"/>
              </a:solidFill>
              <a:latin typeface="Calibri"/>
              <a:ea typeface="Calibri"/>
              <a:cs typeface="Calibri"/>
              <a:sym typeface="Calibri"/>
            </a:endParaRPr>
          </a:p>
        </p:txBody>
      </p:sp>
      <p:sp>
        <p:nvSpPr>
          <p:cNvPr id="150" name="Google Shape;150;p19"/>
          <p:cNvSpPr/>
          <p:nvPr/>
        </p:nvSpPr>
        <p:spPr>
          <a:xfrm>
            <a:off x="411480" y="2640330"/>
            <a:ext cx="8318754" cy="925830"/>
          </a:xfrm>
          <a:prstGeom prst="roundRect">
            <a:avLst>
              <a:gd fmla="val 4444" name="adj"/>
            </a:avLst>
          </a:prstGeom>
          <a:solidFill>
            <a:srgbClr val="FFFFFF"/>
          </a:solidFill>
          <a:ln cap="flat" cmpd="sng" w="12700">
            <a:solidFill>
              <a:srgbClr val="EFD8D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1" name="Google Shape;151;p19"/>
          <p:cNvSpPr/>
          <p:nvPr/>
        </p:nvSpPr>
        <p:spPr>
          <a:xfrm>
            <a:off x="582930" y="2750058"/>
            <a:ext cx="797585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304A"/>
              </a:buClr>
              <a:buSzPts val="800"/>
              <a:buFont typeface="Calibri"/>
              <a:buNone/>
            </a:pPr>
            <a:r>
              <a:rPr b="1" i="0" lang="id" sz="800" u="none" cap="none" strike="noStrike">
                <a:solidFill>
                  <a:srgbClr val="B0304A"/>
                </a:solidFill>
                <a:latin typeface="Calibri"/>
                <a:ea typeface="Calibri"/>
                <a:cs typeface="Calibri"/>
                <a:sym typeface="Calibri"/>
              </a:rPr>
              <a:t>OPSIONAL — signal processing</a:t>
            </a:r>
            <a:endParaRPr b="0" i="0" sz="800" u="none" cap="none" strike="noStrike">
              <a:solidFill>
                <a:schemeClr val="dk1"/>
              </a:solidFill>
              <a:latin typeface="Calibri"/>
              <a:ea typeface="Calibri"/>
              <a:cs typeface="Calibri"/>
              <a:sym typeface="Calibri"/>
            </a:endParaRPr>
          </a:p>
        </p:txBody>
      </p:sp>
      <p:sp>
        <p:nvSpPr>
          <p:cNvPr id="152" name="Google Shape;152;p19"/>
          <p:cNvSpPr/>
          <p:nvPr/>
        </p:nvSpPr>
        <p:spPr>
          <a:xfrm>
            <a:off x="582930" y="2996946"/>
            <a:ext cx="7975854" cy="43205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Detail signal processing — desain filter, strategi windowing, ekstraksi fitur — bila melibatkan keputusan desain yang bermakna.</a:t>
            </a:r>
            <a:endParaRPr b="0" i="0" sz="1000" u="none" cap="none" strike="noStrike">
              <a:solidFill>
                <a:schemeClr val="dk1"/>
              </a:solidFill>
              <a:latin typeface="Calibri"/>
              <a:ea typeface="Calibri"/>
              <a:cs typeface="Calibri"/>
              <a:sym typeface="Calibri"/>
            </a:endParaRPr>
          </a:p>
        </p:txBody>
      </p:sp>
      <p:sp>
        <p:nvSpPr>
          <p:cNvPr id="153" name="Google Shape;153;p19"/>
          <p:cNvSpPr/>
          <p:nvPr/>
        </p:nvSpPr>
        <p:spPr>
          <a:xfrm>
            <a:off x="411480" y="3771900"/>
            <a:ext cx="1272159" cy="582930"/>
          </a:xfrm>
          <a:prstGeom prst="roundRect">
            <a:avLst>
              <a:gd fmla="val 7059" name="adj"/>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 name="Google Shape;154;p19"/>
          <p:cNvSpPr/>
          <p:nvPr/>
        </p:nvSpPr>
        <p:spPr>
          <a:xfrm>
            <a:off x="445770" y="3771900"/>
            <a:ext cx="1203579"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id" sz="800" u="none" cap="none" strike="noStrike">
                <a:solidFill>
                  <a:srgbClr val="FFFFFF"/>
                </a:solidFill>
                <a:latin typeface="Calibri"/>
                <a:ea typeface="Calibri"/>
                <a:cs typeface="Calibri"/>
                <a:sym typeface="Calibri"/>
              </a:rPr>
              <a:t>Dataset</a:t>
            </a:r>
            <a:endParaRPr b="0" i="0" sz="800" u="none" cap="none" strike="noStrike">
              <a:solidFill>
                <a:schemeClr val="dk1"/>
              </a:solidFill>
              <a:latin typeface="Calibri"/>
              <a:ea typeface="Calibri"/>
              <a:cs typeface="Calibri"/>
              <a:sym typeface="Calibri"/>
            </a:endParaRPr>
          </a:p>
        </p:txBody>
      </p:sp>
      <p:sp>
        <p:nvSpPr>
          <p:cNvPr id="155" name="Google Shape;155;p19"/>
          <p:cNvSpPr/>
          <p:nvPr/>
        </p:nvSpPr>
        <p:spPr>
          <a:xfrm>
            <a:off x="1820799" y="3771900"/>
            <a:ext cx="1272159" cy="582930"/>
          </a:xfrm>
          <a:prstGeom prst="roundRect">
            <a:avLst>
              <a:gd fmla="val 7059" name="adj"/>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 name="Google Shape;156;p19"/>
          <p:cNvSpPr/>
          <p:nvPr/>
        </p:nvSpPr>
        <p:spPr>
          <a:xfrm>
            <a:off x="1855089" y="3771900"/>
            <a:ext cx="1203579"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id" sz="800" u="none" cap="none" strike="noStrike">
                <a:solidFill>
                  <a:srgbClr val="FFFFFF"/>
                </a:solidFill>
                <a:latin typeface="Calibri"/>
                <a:ea typeface="Calibri"/>
                <a:cs typeface="Calibri"/>
                <a:sym typeface="Calibri"/>
              </a:rPr>
              <a:t>Subjek</a:t>
            </a:r>
            <a:endParaRPr b="0" i="0" sz="800" u="none" cap="none" strike="noStrike">
              <a:solidFill>
                <a:schemeClr val="dk1"/>
              </a:solidFill>
              <a:latin typeface="Calibri"/>
              <a:ea typeface="Calibri"/>
              <a:cs typeface="Calibri"/>
              <a:sym typeface="Calibri"/>
            </a:endParaRPr>
          </a:p>
        </p:txBody>
      </p:sp>
      <p:sp>
        <p:nvSpPr>
          <p:cNvPr id="157" name="Google Shape;157;p19"/>
          <p:cNvSpPr/>
          <p:nvPr/>
        </p:nvSpPr>
        <p:spPr>
          <a:xfrm>
            <a:off x="3230118" y="3771900"/>
            <a:ext cx="1272159" cy="582930"/>
          </a:xfrm>
          <a:prstGeom prst="roundRect">
            <a:avLst>
              <a:gd fmla="val 7059" name="adj"/>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19"/>
          <p:cNvSpPr/>
          <p:nvPr/>
        </p:nvSpPr>
        <p:spPr>
          <a:xfrm>
            <a:off x="3264408" y="3771900"/>
            <a:ext cx="1203579"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id" sz="800" u="none" cap="none" strike="noStrike">
                <a:solidFill>
                  <a:srgbClr val="FFFFFF"/>
                </a:solidFill>
                <a:latin typeface="Calibri"/>
                <a:ea typeface="Calibri"/>
                <a:cs typeface="Calibri"/>
                <a:sym typeface="Calibri"/>
              </a:rPr>
              <a:t>Sampling rate</a:t>
            </a:r>
            <a:endParaRPr b="0" i="0" sz="800" u="none" cap="none" strike="noStrike">
              <a:solidFill>
                <a:schemeClr val="dk1"/>
              </a:solidFill>
              <a:latin typeface="Calibri"/>
              <a:ea typeface="Calibri"/>
              <a:cs typeface="Calibri"/>
              <a:sym typeface="Calibri"/>
            </a:endParaRPr>
          </a:p>
        </p:txBody>
      </p:sp>
      <p:sp>
        <p:nvSpPr>
          <p:cNvPr id="159" name="Google Shape;159;p19"/>
          <p:cNvSpPr/>
          <p:nvPr/>
        </p:nvSpPr>
        <p:spPr>
          <a:xfrm>
            <a:off x="4639437" y="3771900"/>
            <a:ext cx="1272159" cy="582930"/>
          </a:xfrm>
          <a:prstGeom prst="roundRect">
            <a:avLst>
              <a:gd fmla="val 7059" name="adj"/>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 name="Google Shape;160;p19"/>
          <p:cNvSpPr/>
          <p:nvPr/>
        </p:nvSpPr>
        <p:spPr>
          <a:xfrm>
            <a:off x="4673727" y="3771900"/>
            <a:ext cx="1203579"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id" sz="800" u="none" cap="none" strike="noStrike">
                <a:solidFill>
                  <a:srgbClr val="FFFFFF"/>
                </a:solidFill>
                <a:latin typeface="Calibri"/>
                <a:ea typeface="Calibri"/>
                <a:cs typeface="Calibri"/>
                <a:sym typeface="Calibri"/>
              </a:rPr>
              <a:t>Label</a:t>
            </a:r>
            <a:endParaRPr b="0" i="0" sz="800" u="none" cap="none" strike="noStrike">
              <a:solidFill>
                <a:schemeClr val="dk1"/>
              </a:solidFill>
              <a:latin typeface="Calibri"/>
              <a:ea typeface="Calibri"/>
              <a:cs typeface="Calibri"/>
              <a:sym typeface="Calibri"/>
            </a:endParaRPr>
          </a:p>
        </p:txBody>
      </p:sp>
      <p:sp>
        <p:nvSpPr>
          <p:cNvPr id="161" name="Google Shape;161;p19"/>
          <p:cNvSpPr/>
          <p:nvPr/>
        </p:nvSpPr>
        <p:spPr>
          <a:xfrm>
            <a:off x="6048756" y="3771900"/>
            <a:ext cx="1272159" cy="582930"/>
          </a:xfrm>
          <a:prstGeom prst="roundRect">
            <a:avLst>
              <a:gd fmla="val 7059" name="adj"/>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2" name="Google Shape;162;p19"/>
          <p:cNvSpPr/>
          <p:nvPr/>
        </p:nvSpPr>
        <p:spPr>
          <a:xfrm>
            <a:off x="6083046" y="3771900"/>
            <a:ext cx="1203579"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id" sz="800" u="none" cap="none" strike="noStrike">
                <a:solidFill>
                  <a:srgbClr val="FFFFFF"/>
                </a:solidFill>
                <a:latin typeface="Calibri"/>
                <a:ea typeface="Calibri"/>
                <a:cs typeface="Calibri"/>
                <a:sym typeface="Calibri"/>
              </a:rPr>
              <a:t>Split</a:t>
            </a:r>
            <a:endParaRPr b="0" i="0" sz="800" u="none" cap="none" strike="noStrike">
              <a:solidFill>
                <a:schemeClr val="dk1"/>
              </a:solidFill>
              <a:latin typeface="Calibri"/>
              <a:ea typeface="Calibri"/>
              <a:cs typeface="Calibri"/>
              <a:sym typeface="Calibri"/>
            </a:endParaRPr>
          </a:p>
        </p:txBody>
      </p:sp>
      <p:sp>
        <p:nvSpPr>
          <p:cNvPr id="163" name="Google Shape;163;p19"/>
          <p:cNvSpPr/>
          <p:nvPr/>
        </p:nvSpPr>
        <p:spPr>
          <a:xfrm>
            <a:off x="7458075" y="3771900"/>
            <a:ext cx="1272159" cy="582930"/>
          </a:xfrm>
          <a:prstGeom prst="roundRect">
            <a:avLst>
              <a:gd fmla="val 7059" name="adj"/>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4" name="Google Shape;164;p19"/>
          <p:cNvSpPr/>
          <p:nvPr/>
        </p:nvSpPr>
        <p:spPr>
          <a:xfrm>
            <a:off x="7492365" y="3771900"/>
            <a:ext cx="1203579"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id" sz="800" u="none" cap="none" strike="noStrike">
                <a:solidFill>
                  <a:srgbClr val="FFFFFF"/>
                </a:solidFill>
                <a:latin typeface="Calibri"/>
                <a:ea typeface="Calibri"/>
                <a:cs typeface="Calibri"/>
                <a:sym typeface="Calibri"/>
              </a:rPr>
              <a:t>Class balance</a:t>
            </a:r>
            <a:endParaRPr b="0" i="0" sz="800" u="none" cap="none" strike="noStrike">
              <a:solidFill>
                <a:schemeClr val="dk1"/>
              </a:solidFill>
              <a:latin typeface="Calibri"/>
              <a:ea typeface="Calibri"/>
              <a:cs typeface="Calibri"/>
              <a:sym typeface="Calibri"/>
            </a:endParaRPr>
          </a:p>
        </p:txBody>
      </p:sp>
      <p:sp>
        <p:nvSpPr>
          <p:cNvPr id="165" name="Google Shape;165;p19"/>
          <p:cNvSpPr/>
          <p:nvPr/>
        </p:nvSpPr>
        <p:spPr>
          <a:xfrm>
            <a:off x="411480" y="481431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ICDeC — Final Report Template</a:t>
            </a:r>
            <a:endParaRPr b="0" i="0" sz="700" u="none" cap="none" strike="noStrike">
              <a:solidFill>
                <a:schemeClr val="dk1"/>
              </a:solidFill>
              <a:latin typeface="Calibri"/>
              <a:ea typeface="Calibri"/>
              <a:cs typeface="Calibri"/>
              <a:sym typeface="Calibri"/>
            </a:endParaRPr>
          </a:p>
        </p:txBody>
      </p:sp>
      <p:sp>
        <p:nvSpPr>
          <p:cNvPr id="166" name="Google Shape;166;p19"/>
          <p:cNvSpPr/>
          <p:nvPr/>
        </p:nvSpPr>
        <p:spPr>
          <a:xfrm>
            <a:off x="8044434" y="4814316"/>
            <a:ext cx="6858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5</a:t>
            </a:r>
            <a:endParaRPr b="0" i="0" sz="700" u="none" cap="none" strike="noStrike">
              <a:solidFill>
                <a:schemeClr val="dk1"/>
              </a:solidFill>
              <a:latin typeface="Calibri"/>
              <a:ea typeface="Calibri"/>
              <a:cs typeface="Calibri"/>
              <a:sym typeface="Calibri"/>
            </a:endParaRPr>
          </a:p>
        </p:txBody>
      </p:sp>
      <p:pic>
        <p:nvPicPr>
          <p:cNvPr id="167" name="Google Shape;167;p19"/>
          <p:cNvPicPr preferRelativeResize="0"/>
          <p:nvPr/>
        </p:nvPicPr>
        <p:blipFill>
          <a:blip r:embed="rId3">
            <a:alphaModFix/>
          </a:blip>
          <a:stretch>
            <a:fillRect/>
          </a:stretch>
        </p:blipFill>
        <p:spPr>
          <a:xfrm>
            <a:off x="7980249" y="0"/>
            <a:ext cx="1163763" cy="10474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sp>
        <p:nvSpPr>
          <p:cNvPr id="173" name="Google Shape;173;p20"/>
          <p:cNvSpPr/>
          <p:nvPr/>
        </p:nvSpPr>
        <p:spPr>
          <a:xfrm>
            <a:off x="411480" y="377190"/>
            <a:ext cx="617220" cy="617220"/>
          </a:xfrm>
          <a:prstGeom prst="rect">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4" name="Google Shape;174;p20"/>
          <p:cNvSpPr/>
          <p:nvPr/>
        </p:nvSpPr>
        <p:spPr>
          <a:xfrm>
            <a:off x="411480" y="377190"/>
            <a:ext cx="617220"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id" sz="2600" u="none" cap="none" strike="noStrike">
                <a:solidFill>
                  <a:srgbClr val="FFFFFF"/>
                </a:solidFill>
                <a:latin typeface="Cambria"/>
                <a:ea typeface="Cambria"/>
                <a:cs typeface="Cambria"/>
                <a:sym typeface="Cambria"/>
              </a:rPr>
              <a:t>4</a:t>
            </a:r>
            <a:endParaRPr b="0" i="0" sz="2600" u="none" cap="none" strike="noStrike">
              <a:solidFill>
                <a:schemeClr val="dk1"/>
              </a:solidFill>
              <a:latin typeface="Calibri"/>
              <a:ea typeface="Calibri"/>
              <a:cs typeface="Calibri"/>
              <a:sym typeface="Calibri"/>
            </a:endParaRPr>
          </a:p>
        </p:txBody>
      </p:sp>
      <p:sp>
        <p:nvSpPr>
          <p:cNvPr id="175" name="Google Shape;175;p20"/>
          <p:cNvSpPr/>
          <p:nvPr/>
        </p:nvSpPr>
        <p:spPr>
          <a:xfrm>
            <a:off x="1200150" y="377190"/>
            <a:ext cx="753008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2300"/>
              <a:buFont typeface="Cambria"/>
              <a:buNone/>
            </a:pPr>
            <a:r>
              <a:rPr b="1" i="0" lang="id" sz="2300" u="none" cap="none" strike="noStrike">
                <a:solidFill>
                  <a:srgbClr val="7A1220"/>
                </a:solidFill>
                <a:latin typeface="Cambria"/>
                <a:ea typeface="Cambria"/>
                <a:cs typeface="Cambria"/>
                <a:sym typeface="Cambria"/>
              </a:rPr>
              <a:t>Model</a:t>
            </a:r>
            <a:endParaRPr b="0" i="0" sz="2300" u="none" cap="none" strike="noStrike">
              <a:solidFill>
                <a:schemeClr val="dk1"/>
              </a:solidFill>
              <a:latin typeface="Calibri"/>
              <a:ea typeface="Calibri"/>
              <a:cs typeface="Calibri"/>
              <a:sym typeface="Calibri"/>
            </a:endParaRPr>
          </a:p>
        </p:txBody>
      </p:sp>
      <p:sp>
        <p:nvSpPr>
          <p:cNvPr id="176" name="Google Shape;176;p20"/>
          <p:cNvSpPr/>
          <p:nvPr/>
        </p:nvSpPr>
        <p:spPr>
          <a:xfrm>
            <a:off x="411480" y="1200150"/>
            <a:ext cx="4149090" cy="3017520"/>
          </a:xfrm>
          <a:prstGeom prst="roundRect">
            <a:avLst>
              <a:gd fmla="val 1364" name="adj"/>
            </a:avLst>
          </a:prstGeom>
          <a:solidFill>
            <a:srgbClr val="F7EBEE"/>
          </a:solidFill>
          <a:ln cap="flat" cmpd="sng" w="12700">
            <a:solidFill>
              <a:srgbClr val="E9CE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7" name="Google Shape;177;p20"/>
          <p:cNvSpPr/>
          <p:nvPr/>
        </p:nvSpPr>
        <p:spPr>
          <a:xfrm>
            <a:off x="582930" y="1309878"/>
            <a:ext cx="380619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800"/>
              <a:buFont typeface="Calibri"/>
              <a:buNone/>
            </a:pPr>
            <a:r>
              <a:rPr b="1" i="0" lang="id" sz="800" u="none" cap="none" strike="noStrike">
                <a:solidFill>
                  <a:srgbClr val="7A1220"/>
                </a:solidFill>
                <a:latin typeface="Calibri"/>
                <a:ea typeface="Calibri"/>
                <a:cs typeface="Calibri"/>
                <a:sym typeface="Calibri"/>
              </a:rPr>
              <a:t>PANDUAN — isi bagian ini</a:t>
            </a:r>
            <a:endParaRPr b="0" i="0" sz="800" u="none" cap="none" strike="noStrike">
              <a:solidFill>
                <a:schemeClr val="dk1"/>
              </a:solidFill>
              <a:latin typeface="Calibri"/>
              <a:ea typeface="Calibri"/>
              <a:cs typeface="Calibri"/>
              <a:sym typeface="Calibri"/>
            </a:endParaRPr>
          </a:p>
        </p:txBody>
      </p:sp>
      <p:sp>
        <p:nvSpPr>
          <p:cNvPr id="178" name="Google Shape;178;p20"/>
          <p:cNvSpPr/>
          <p:nvPr/>
        </p:nvSpPr>
        <p:spPr>
          <a:xfrm>
            <a:off x="582930" y="1556766"/>
            <a:ext cx="3806190" cy="252374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Arsitektur model — layer-by-layer atau diagram. Sertakan:</a:t>
            </a:r>
            <a:endParaRPr b="0" i="0" sz="1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 Jumlah parameter</a:t>
            </a:r>
            <a:endParaRPr b="0" i="0" sz="1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 Input shape</a:t>
            </a:r>
            <a:endParaRPr b="0" i="0" sz="1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 Tipe layer / blok utama</a:t>
            </a:r>
            <a:endParaRPr b="0" i="0" sz="1000" u="none" cap="none" strike="noStrike">
              <a:solidFill>
                <a:schemeClr val="dk1"/>
              </a:solidFill>
              <a:latin typeface="Calibri"/>
              <a:ea typeface="Calibri"/>
              <a:cs typeface="Calibri"/>
              <a:sym typeface="Calibri"/>
            </a:endParaRPr>
          </a:p>
        </p:txBody>
      </p:sp>
      <p:sp>
        <p:nvSpPr>
          <p:cNvPr id="179" name="Google Shape;179;p20"/>
          <p:cNvSpPr/>
          <p:nvPr/>
        </p:nvSpPr>
        <p:spPr>
          <a:xfrm>
            <a:off x="4766310" y="1200150"/>
            <a:ext cx="3963924" cy="3017520"/>
          </a:xfrm>
          <a:prstGeom prst="roundRect">
            <a:avLst>
              <a:gd fmla="val 1818" name="adj"/>
            </a:avLst>
          </a:prstGeom>
          <a:solidFill>
            <a:srgbClr val="FBF4F6"/>
          </a:solidFill>
          <a:ln cap="flat" cmpd="sng" w="12700">
            <a:solidFill>
              <a:srgbClr val="EAD3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0" name="Google Shape;180;p20"/>
          <p:cNvSpPr/>
          <p:nvPr/>
        </p:nvSpPr>
        <p:spPr>
          <a:xfrm>
            <a:off x="4972050" y="1371600"/>
            <a:ext cx="35524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1000"/>
              <a:buFont typeface="Calibri"/>
              <a:buNone/>
            </a:pPr>
            <a:r>
              <a:rPr b="1" i="0" lang="id" sz="1000" u="none" cap="none" strike="noStrike">
                <a:solidFill>
                  <a:srgbClr val="7A1220"/>
                </a:solidFill>
                <a:latin typeface="Calibri"/>
                <a:ea typeface="Calibri"/>
                <a:cs typeface="Calibri"/>
                <a:sym typeface="Calibri"/>
              </a:rPr>
              <a:t>SETUP TRAINING</a:t>
            </a:r>
            <a:endParaRPr b="0" i="0" sz="1000" u="none" cap="none" strike="noStrike">
              <a:solidFill>
                <a:schemeClr val="dk1"/>
              </a:solidFill>
              <a:latin typeface="Calibri"/>
              <a:ea typeface="Calibri"/>
              <a:cs typeface="Calibri"/>
              <a:sym typeface="Calibri"/>
            </a:endParaRPr>
          </a:p>
        </p:txBody>
      </p:sp>
      <p:sp>
        <p:nvSpPr>
          <p:cNvPr id="181" name="Google Shape;181;p20"/>
          <p:cNvSpPr/>
          <p:nvPr/>
        </p:nvSpPr>
        <p:spPr>
          <a:xfrm>
            <a:off x="4985766" y="1789938"/>
            <a:ext cx="96012" cy="96012"/>
          </a:xfrm>
          <a:prstGeom prst="ellipse">
            <a:avLst/>
          </a:prstGeom>
          <a:solidFill>
            <a:srgbClr val="B030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 name="Google Shape;182;p20"/>
          <p:cNvSpPr/>
          <p:nvPr/>
        </p:nvSpPr>
        <p:spPr>
          <a:xfrm>
            <a:off x="5177790" y="1707642"/>
            <a:ext cx="33467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100"/>
              <a:buFont typeface="Calibri"/>
              <a:buNone/>
            </a:pPr>
            <a:r>
              <a:rPr b="0" i="0" lang="id" sz="1100" u="none" cap="none" strike="noStrike">
                <a:solidFill>
                  <a:srgbClr val="2B2B2B"/>
                </a:solidFill>
                <a:latin typeface="Calibri"/>
                <a:ea typeface="Calibri"/>
                <a:cs typeface="Calibri"/>
                <a:sym typeface="Calibri"/>
              </a:rPr>
              <a:t>Optimizer</a:t>
            </a:r>
            <a:endParaRPr b="0" i="0" sz="1100" u="none" cap="none" strike="noStrike">
              <a:solidFill>
                <a:schemeClr val="dk1"/>
              </a:solidFill>
              <a:latin typeface="Calibri"/>
              <a:ea typeface="Calibri"/>
              <a:cs typeface="Calibri"/>
              <a:sym typeface="Calibri"/>
            </a:endParaRPr>
          </a:p>
        </p:txBody>
      </p:sp>
      <p:sp>
        <p:nvSpPr>
          <p:cNvPr id="183" name="Google Shape;183;p20"/>
          <p:cNvSpPr/>
          <p:nvPr/>
        </p:nvSpPr>
        <p:spPr>
          <a:xfrm>
            <a:off x="7701534" y="1707642"/>
            <a:ext cx="8229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6A70"/>
              </a:buClr>
              <a:buSzPts val="1100"/>
              <a:buFont typeface="Calibri"/>
              <a:buNone/>
            </a:pPr>
            <a:r>
              <a:rPr b="0" i="0" lang="id" sz="1100" u="none" cap="none" strike="noStrike">
                <a:solidFill>
                  <a:srgbClr val="8A6A70"/>
                </a:solidFill>
                <a:latin typeface="Calibri"/>
                <a:ea typeface="Calibri"/>
                <a:cs typeface="Calibri"/>
                <a:sym typeface="Calibri"/>
              </a:rPr>
              <a:t>____</a:t>
            </a:r>
            <a:endParaRPr b="0" i="0" sz="1100" u="none" cap="none" strike="noStrike">
              <a:solidFill>
                <a:schemeClr val="dk1"/>
              </a:solidFill>
              <a:latin typeface="Calibri"/>
              <a:ea typeface="Calibri"/>
              <a:cs typeface="Calibri"/>
              <a:sym typeface="Calibri"/>
            </a:endParaRPr>
          </a:p>
        </p:txBody>
      </p:sp>
      <p:sp>
        <p:nvSpPr>
          <p:cNvPr id="184" name="Google Shape;184;p20"/>
          <p:cNvSpPr/>
          <p:nvPr/>
        </p:nvSpPr>
        <p:spPr>
          <a:xfrm>
            <a:off x="4985766" y="2187702"/>
            <a:ext cx="96012" cy="96012"/>
          </a:xfrm>
          <a:prstGeom prst="ellipse">
            <a:avLst/>
          </a:prstGeom>
          <a:solidFill>
            <a:srgbClr val="B030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5" name="Google Shape;185;p20"/>
          <p:cNvSpPr/>
          <p:nvPr/>
        </p:nvSpPr>
        <p:spPr>
          <a:xfrm>
            <a:off x="5177790" y="2105406"/>
            <a:ext cx="33467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100"/>
              <a:buFont typeface="Calibri"/>
              <a:buNone/>
            </a:pPr>
            <a:r>
              <a:rPr b="0" i="0" lang="id" sz="1100" u="none" cap="none" strike="noStrike">
                <a:solidFill>
                  <a:srgbClr val="2B2B2B"/>
                </a:solidFill>
                <a:latin typeface="Calibri"/>
                <a:ea typeface="Calibri"/>
                <a:cs typeface="Calibri"/>
                <a:sym typeface="Calibri"/>
              </a:rPr>
              <a:t>Loss function</a:t>
            </a:r>
            <a:endParaRPr b="0" i="0" sz="1100" u="none" cap="none" strike="noStrike">
              <a:solidFill>
                <a:schemeClr val="dk1"/>
              </a:solidFill>
              <a:latin typeface="Calibri"/>
              <a:ea typeface="Calibri"/>
              <a:cs typeface="Calibri"/>
              <a:sym typeface="Calibri"/>
            </a:endParaRPr>
          </a:p>
        </p:txBody>
      </p:sp>
      <p:sp>
        <p:nvSpPr>
          <p:cNvPr id="186" name="Google Shape;186;p20"/>
          <p:cNvSpPr/>
          <p:nvPr/>
        </p:nvSpPr>
        <p:spPr>
          <a:xfrm>
            <a:off x="7701534" y="2105406"/>
            <a:ext cx="8229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6A70"/>
              </a:buClr>
              <a:buSzPts val="1100"/>
              <a:buFont typeface="Calibri"/>
              <a:buNone/>
            </a:pPr>
            <a:r>
              <a:rPr b="0" i="0" lang="id" sz="1100" u="none" cap="none" strike="noStrike">
                <a:solidFill>
                  <a:srgbClr val="8A6A70"/>
                </a:solidFill>
                <a:latin typeface="Calibri"/>
                <a:ea typeface="Calibri"/>
                <a:cs typeface="Calibri"/>
                <a:sym typeface="Calibri"/>
              </a:rPr>
              <a:t>____</a:t>
            </a:r>
            <a:endParaRPr b="0" i="0" sz="1100" u="none" cap="none" strike="noStrike">
              <a:solidFill>
                <a:schemeClr val="dk1"/>
              </a:solidFill>
              <a:latin typeface="Calibri"/>
              <a:ea typeface="Calibri"/>
              <a:cs typeface="Calibri"/>
              <a:sym typeface="Calibri"/>
            </a:endParaRPr>
          </a:p>
        </p:txBody>
      </p:sp>
      <p:sp>
        <p:nvSpPr>
          <p:cNvPr id="187" name="Google Shape;187;p20"/>
          <p:cNvSpPr/>
          <p:nvPr/>
        </p:nvSpPr>
        <p:spPr>
          <a:xfrm>
            <a:off x="4985766" y="2585466"/>
            <a:ext cx="96012" cy="96012"/>
          </a:xfrm>
          <a:prstGeom prst="ellipse">
            <a:avLst/>
          </a:prstGeom>
          <a:solidFill>
            <a:srgbClr val="B030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 name="Google Shape;188;p20"/>
          <p:cNvSpPr/>
          <p:nvPr/>
        </p:nvSpPr>
        <p:spPr>
          <a:xfrm>
            <a:off x="5177790" y="2503170"/>
            <a:ext cx="33467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100"/>
              <a:buFont typeface="Calibri"/>
              <a:buNone/>
            </a:pPr>
            <a:r>
              <a:rPr b="0" i="0" lang="id" sz="1100" u="none" cap="none" strike="noStrike">
                <a:solidFill>
                  <a:srgbClr val="2B2B2B"/>
                </a:solidFill>
                <a:latin typeface="Calibri"/>
                <a:ea typeface="Calibri"/>
                <a:cs typeface="Calibri"/>
                <a:sym typeface="Calibri"/>
              </a:rPr>
              <a:t>Epochs</a:t>
            </a:r>
            <a:endParaRPr b="0" i="0" sz="1100" u="none" cap="none" strike="noStrike">
              <a:solidFill>
                <a:schemeClr val="dk1"/>
              </a:solidFill>
              <a:latin typeface="Calibri"/>
              <a:ea typeface="Calibri"/>
              <a:cs typeface="Calibri"/>
              <a:sym typeface="Calibri"/>
            </a:endParaRPr>
          </a:p>
        </p:txBody>
      </p:sp>
      <p:sp>
        <p:nvSpPr>
          <p:cNvPr id="189" name="Google Shape;189;p20"/>
          <p:cNvSpPr/>
          <p:nvPr/>
        </p:nvSpPr>
        <p:spPr>
          <a:xfrm>
            <a:off x="7701534" y="2503170"/>
            <a:ext cx="8229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6A70"/>
              </a:buClr>
              <a:buSzPts val="1100"/>
              <a:buFont typeface="Calibri"/>
              <a:buNone/>
            </a:pPr>
            <a:r>
              <a:rPr b="0" i="0" lang="id" sz="1100" u="none" cap="none" strike="noStrike">
                <a:solidFill>
                  <a:srgbClr val="8A6A70"/>
                </a:solidFill>
                <a:latin typeface="Calibri"/>
                <a:ea typeface="Calibri"/>
                <a:cs typeface="Calibri"/>
                <a:sym typeface="Calibri"/>
              </a:rPr>
              <a:t>____</a:t>
            </a:r>
            <a:endParaRPr b="0" i="0" sz="1100" u="none" cap="none" strike="noStrike">
              <a:solidFill>
                <a:schemeClr val="dk1"/>
              </a:solidFill>
              <a:latin typeface="Calibri"/>
              <a:ea typeface="Calibri"/>
              <a:cs typeface="Calibri"/>
              <a:sym typeface="Calibri"/>
            </a:endParaRPr>
          </a:p>
        </p:txBody>
      </p:sp>
      <p:sp>
        <p:nvSpPr>
          <p:cNvPr id="190" name="Google Shape;190;p20"/>
          <p:cNvSpPr/>
          <p:nvPr/>
        </p:nvSpPr>
        <p:spPr>
          <a:xfrm>
            <a:off x="4985766" y="2983230"/>
            <a:ext cx="96012" cy="96012"/>
          </a:xfrm>
          <a:prstGeom prst="ellipse">
            <a:avLst/>
          </a:prstGeom>
          <a:solidFill>
            <a:srgbClr val="B030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 name="Google Shape;191;p20"/>
          <p:cNvSpPr/>
          <p:nvPr/>
        </p:nvSpPr>
        <p:spPr>
          <a:xfrm>
            <a:off x="5177790" y="2900934"/>
            <a:ext cx="33467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100"/>
              <a:buFont typeface="Calibri"/>
              <a:buNone/>
            </a:pPr>
            <a:r>
              <a:rPr b="0" i="0" lang="id" sz="1100" u="none" cap="none" strike="noStrike">
                <a:solidFill>
                  <a:srgbClr val="2B2B2B"/>
                </a:solidFill>
                <a:latin typeface="Calibri"/>
                <a:ea typeface="Calibri"/>
                <a:cs typeface="Calibri"/>
                <a:sym typeface="Calibri"/>
              </a:rPr>
              <a:t>Batch size</a:t>
            </a:r>
            <a:endParaRPr b="0" i="0" sz="1100" u="none" cap="none" strike="noStrike">
              <a:solidFill>
                <a:schemeClr val="dk1"/>
              </a:solidFill>
              <a:latin typeface="Calibri"/>
              <a:ea typeface="Calibri"/>
              <a:cs typeface="Calibri"/>
              <a:sym typeface="Calibri"/>
            </a:endParaRPr>
          </a:p>
        </p:txBody>
      </p:sp>
      <p:sp>
        <p:nvSpPr>
          <p:cNvPr id="192" name="Google Shape;192;p20"/>
          <p:cNvSpPr/>
          <p:nvPr/>
        </p:nvSpPr>
        <p:spPr>
          <a:xfrm>
            <a:off x="7701534" y="2900934"/>
            <a:ext cx="8229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6A70"/>
              </a:buClr>
              <a:buSzPts val="1100"/>
              <a:buFont typeface="Calibri"/>
              <a:buNone/>
            </a:pPr>
            <a:r>
              <a:rPr b="0" i="0" lang="id" sz="1100" u="none" cap="none" strike="noStrike">
                <a:solidFill>
                  <a:srgbClr val="8A6A70"/>
                </a:solidFill>
                <a:latin typeface="Calibri"/>
                <a:ea typeface="Calibri"/>
                <a:cs typeface="Calibri"/>
                <a:sym typeface="Calibri"/>
              </a:rPr>
              <a:t>____</a:t>
            </a:r>
            <a:endParaRPr b="0" i="0" sz="1100" u="none" cap="none" strike="noStrike">
              <a:solidFill>
                <a:schemeClr val="dk1"/>
              </a:solidFill>
              <a:latin typeface="Calibri"/>
              <a:ea typeface="Calibri"/>
              <a:cs typeface="Calibri"/>
              <a:sym typeface="Calibri"/>
            </a:endParaRPr>
          </a:p>
        </p:txBody>
      </p:sp>
      <p:sp>
        <p:nvSpPr>
          <p:cNvPr id="193" name="Google Shape;193;p20"/>
          <p:cNvSpPr/>
          <p:nvPr/>
        </p:nvSpPr>
        <p:spPr>
          <a:xfrm>
            <a:off x="4985766" y="3380994"/>
            <a:ext cx="96012" cy="96012"/>
          </a:xfrm>
          <a:prstGeom prst="ellipse">
            <a:avLst/>
          </a:prstGeom>
          <a:solidFill>
            <a:srgbClr val="B030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4" name="Google Shape;194;p20"/>
          <p:cNvSpPr/>
          <p:nvPr/>
        </p:nvSpPr>
        <p:spPr>
          <a:xfrm>
            <a:off x="5177790" y="3298698"/>
            <a:ext cx="33467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100"/>
              <a:buFont typeface="Calibri"/>
              <a:buNone/>
            </a:pPr>
            <a:r>
              <a:rPr b="0" i="0" lang="id" sz="1100" u="none" cap="none" strike="noStrike">
                <a:solidFill>
                  <a:srgbClr val="2B2B2B"/>
                </a:solidFill>
                <a:latin typeface="Calibri"/>
                <a:ea typeface="Calibri"/>
                <a:cs typeface="Calibri"/>
                <a:sym typeface="Calibri"/>
              </a:rPr>
              <a:t>Hardware training</a:t>
            </a:r>
            <a:endParaRPr b="0" i="0" sz="1100" u="none" cap="none" strike="noStrike">
              <a:solidFill>
                <a:schemeClr val="dk1"/>
              </a:solidFill>
              <a:latin typeface="Calibri"/>
              <a:ea typeface="Calibri"/>
              <a:cs typeface="Calibri"/>
              <a:sym typeface="Calibri"/>
            </a:endParaRPr>
          </a:p>
        </p:txBody>
      </p:sp>
      <p:sp>
        <p:nvSpPr>
          <p:cNvPr id="195" name="Google Shape;195;p20"/>
          <p:cNvSpPr/>
          <p:nvPr/>
        </p:nvSpPr>
        <p:spPr>
          <a:xfrm>
            <a:off x="7701534" y="3298698"/>
            <a:ext cx="8229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6A70"/>
              </a:buClr>
              <a:buSzPts val="1100"/>
              <a:buFont typeface="Calibri"/>
              <a:buNone/>
            </a:pPr>
            <a:r>
              <a:rPr b="0" i="0" lang="id" sz="1100" u="none" cap="none" strike="noStrike">
                <a:solidFill>
                  <a:srgbClr val="8A6A70"/>
                </a:solidFill>
                <a:latin typeface="Calibri"/>
                <a:ea typeface="Calibri"/>
                <a:cs typeface="Calibri"/>
                <a:sym typeface="Calibri"/>
              </a:rPr>
              <a:t>____</a:t>
            </a:r>
            <a:endParaRPr b="0" i="0" sz="1100" u="none" cap="none" strike="noStrike">
              <a:solidFill>
                <a:schemeClr val="dk1"/>
              </a:solidFill>
              <a:latin typeface="Calibri"/>
              <a:ea typeface="Calibri"/>
              <a:cs typeface="Calibri"/>
              <a:sym typeface="Calibri"/>
            </a:endParaRPr>
          </a:p>
        </p:txBody>
      </p:sp>
      <p:sp>
        <p:nvSpPr>
          <p:cNvPr id="196" name="Google Shape;196;p20"/>
          <p:cNvSpPr/>
          <p:nvPr/>
        </p:nvSpPr>
        <p:spPr>
          <a:xfrm>
            <a:off x="4985766" y="3778758"/>
            <a:ext cx="96012" cy="96012"/>
          </a:xfrm>
          <a:prstGeom prst="ellipse">
            <a:avLst/>
          </a:prstGeom>
          <a:solidFill>
            <a:srgbClr val="B0304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 name="Google Shape;197;p20"/>
          <p:cNvSpPr/>
          <p:nvPr/>
        </p:nvSpPr>
        <p:spPr>
          <a:xfrm>
            <a:off x="5177790" y="3696462"/>
            <a:ext cx="33467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100"/>
              <a:buFont typeface="Calibri"/>
              <a:buNone/>
            </a:pPr>
            <a:r>
              <a:rPr b="0" i="0" lang="id" sz="1100" u="none" cap="none" strike="noStrike">
                <a:solidFill>
                  <a:srgbClr val="2B2B2B"/>
                </a:solidFill>
                <a:latin typeface="Calibri"/>
                <a:ea typeface="Calibri"/>
                <a:cs typeface="Calibri"/>
                <a:sym typeface="Calibri"/>
              </a:rPr>
              <a:t>Regularisasi</a:t>
            </a:r>
            <a:endParaRPr b="0" i="0" sz="1100" u="none" cap="none" strike="noStrike">
              <a:solidFill>
                <a:schemeClr val="dk1"/>
              </a:solidFill>
              <a:latin typeface="Calibri"/>
              <a:ea typeface="Calibri"/>
              <a:cs typeface="Calibri"/>
              <a:sym typeface="Calibri"/>
            </a:endParaRPr>
          </a:p>
        </p:txBody>
      </p:sp>
      <p:sp>
        <p:nvSpPr>
          <p:cNvPr id="198" name="Google Shape;198;p20"/>
          <p:cNvSpPr/>
          <p:nvPr/>
        </p:nvSpPr>
        <p:spPr>
          <a:xfrm>
            <a:off x="7701534" y="3696462"/>
            <a:ext cx="8229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6A70"/>
              </a:buClr>
              <a:buSzPts val="1100"/>
              <a:buFont typeface="Calibri"/>
              <a:buNone/>
            </a:pPr>
            <a:r>
              <a:rPr b="0" i="0" lang="id" sz="1100" u="none" cap="none" strike="noStrike">
                <a:solidFill>
                  <a:srgbClr val="8A6A70"/>
                </a:solidFill>
                <a:latin typeface="Calibri"/>
                <a:ea typeface="Calibri"/>
                <a:cs typeface="Calibri"/>
                <a:sym typeface="Calibri"/>
              </a:rPr>
              <a:t>____</a:t>
            </a:r>
            <a:endParaRPr b="0" i="0" sz="1100" u="none" cap="none" strike="noStrike">
              <a:solidFill>
                <a:schemeClr val="dk1"/>
              </a:solidFill>
              <a:latin typeface="Calibri"/>
              <a:ea typeface="Calibri"/>
              <a:cs typeface="Calibri"/>
              <a:sym typeface="Calibri"/>
            </a:endParaRPr>
          </a:p>
        </p:txBody>
      </p:sp>
      <p:sp>
        <p:nvSpPr>
          <p:cNvPr id="199" name="Google Shape;199;p20"/>
          <p:cNvSpPr/>
          <p:nvPr/>
        </p:nvSpPr>
        <p:spPr>
          <a:xfrm>
            <a:off x="411480" y="481431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ICDeC — Final Report Template</a:t>
            </a:r>
            <a:endParaRPr b="0" i="0" sz="700" u="none" cap="none" strike="noStrike">
              <a:solidFill>
                <a:schemeClr val="dk1"/>
              </a:solidFill>
              <a:latin typeface="Calibri"/>
              <a:ea typeface="Calibri"/>
              <a:cs typeface="Calibri"/>
              <a:sym typeface="Calibri"/>
            </a:endParaRPr>
          </a:p>
        </p:txBody>
      </p:sp>
      <p:sp>
        <p:nvSpPr>
          <p:cNvPr id="200" name="Google Shape;200;p20"/>
          <p:cNvSpPr/>
          <p:nvPr/>
        </p:nvSpPr>
        <p:spPr>
          <a:xfrm>
            <a:off x="8044434" y="4814316"/>
            <a:ext cx="6858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6</a:t>
            </a:r>
            <a:endParaRPr b="0" i="0" sz="700" u="none" cap="none" strike="noStrike">
              <a:solidFill>
                <a:schemeClr val="dk1"/>
              </a:solidFill>
              <a:latin typeface="Calibri"/>
              <a:ea typeface="Calibri"/>
              <a:cs typeface="Calibri"/>
              <a:sym typeface="Calibri"/>
            </a:endParaRPr>
          </a:p>
        </p:txBody>
      </p:sp>
      <p:pic>
        <p:nvPicPr>
          <p:cNvPr id="201" name="Google Shape;201;p20"/>
          <p:cNvPicPr preferRelativeResize="0"/>
          <p:nvPr/>
        </p:nvPicPr>
        <p:blipFill>
          <a:blip r:embed="rId3">
            <a:alphaModFix/>
          </a:blip>
          <a:stretch>
            <a:fillRect/>
          </a:stretch>
        </p:blipFill>
        <p:spPr>
          <a:xfrm>
            <a:off x="7980249" y="0"/>
            <a:ext cx="1163763" cy="10474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21"/>
          <p:cNvSpPr/>
          <p:nvPr/>
        </p:nvSpPr>
        <p:spPr>
          <a:xfrm>
            <a:off x="411480" y="377190"/>
            <a:ext cx="617220" cy="617220"/>
          </a:xfrm>
          <a:prstGeom prst="rect">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8" name="Google Shape;208;p21"/>
          <p:cNvSpPr/>
          <p:nvPr/>
        </p:nvSpPr>
        <p:spPr>
          <a:xfrm>
            <a:off x="411480" y="377190"/>
            <a:ext cx="617220"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id" sz="2600" u="none" cap="none" strike="noStrike">
                <a:solidFill>
                  <a:srgbClr val="FFFFFF"/>
                </a:solidFill>
                <a:latin typeface="Cambria"/>
                <a:ea typeface="Cambria"/>
                <a:cs typeface="Cambria"/>
                <a:sym typeface="Cambria"/>
              </a:rPr>
              <a:t>5</a:t>
            </a:r>
            <a:endParaRPr b="0" i="0" sz="2600" u="none" cap="none" strike="noStrike">
              <a:solidFill>
                <a:schemeClr val="dk1"/>
              </a:solidFill>
              <a:latin typeface="Calibri"/>
              <a:ea typeface="Calibri"/>
              <a:cs typeface="Calibri"/>
              <a:sym typeface="Calibri"/>
            </a:endParaRPr>
          </a:p>
        </p:txBody>
      </p:sp>
      <p:sp>
        <p:nvSpPr>
          <p:cNvPr id="209" name="Google Shape;209;p21"/>
          <p:cNvSpPr/>
          <p:nvPr/>
        </p:nvSpPr>
        <p:spPr>
          <a:xfrm>
            <a:off x="1200150" y="377190"/>
            <a:ext cx="753008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2300"/>
              <a:buFont typeface="Cambria"/>
              <a:buNone/>
            </a:pPr>
            <a:r>
              <a:rPr b="1" i="0" lang="id" sz="2300" u="none" cap="none" strike="noStrike">
                <a:solidFill>
                  <a:srgbClr val="7A1220"/>
                </a:solidFill>
                <a:latin typeface="Cambria"/>
                <a:ea typeface="Cambria"/>
                <a:cs typeface="Cambria"/>
                <a:sym typeface="Cambria"/>
              </a:rPr>
              <a:t>Results</a:t>
            </a:r>
            <a:endParaRPr b="0" i="0" sz="2300" u="none" cap="none" strike="noStrike">
              <a:solidFill>
                <a:schemeClr val="dk1"/>
              </a:solidFill>
              <a:latin typeface="Calibri"/>
              <a:ea typeface="Calibri"/>
              <a:cs typeface="Calibri"/>
              <a:sym typeface="Calibri"/>
            </a:endParaRPr>
          </a:p>
        </p:txBody>
      </p:sp>
      <p:sp>
        <p:nvSpPr>
          <p:cNvPr id="210" name="Google Shape;210;p21"/>
          <p:cNvSpPr/>
          <p:nvPr/>
        </p:nvSpPr>
        <p:spPr>
          <a:xfrm>
            <a:off x="411480" y="1200150"/>
            <a:ext cx="8318754" cy="1165860"/>
          </a:xfrm>
          <a:prstGeom prst="roundRect">
            <a:avLst>
              <a:gd fmla="val 3529" name="adj"/>
            </a:avLst>
          </a:prstGeom>
          <a:solidFill>
            <a:srgbClr val="F7EBEE"/>
          </a:solidFill>
          <a:ln cap="flat" cmpd="sng" w="12700">
            <a:solidFill>
              <a:srgbClr val="E9CE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1" name="Google Shape;211;p21"/>
          <p:cNvSpPr/>
          <p:nvPr/>
        </p:nvSpPr>
        <p:spPr>
          <a:xfrm>
            <a:off x="582930" y="1309878"/>
            <a:ext cx="797585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800"/>
              <a:buFont typeface="Calibri"/>
              <a:buNone/>
            </a:pPr>
            <a:r>
              <a:rPr b="1" i="0" lang="id" sz="800" u="none" cap="none" strike="noStrike">
                <a:solidFill>
                  <a:srgbClr val="7A1220"/>
                </a:solidFill>
                <a:latin typeface="Calibri"/>
                <a:ea typeface="Calibri"/>
                <a:cs typeface="Calibri"/>
                <a:sym typeface="Calibri"/>
              </a:rPr>
              <a:t>PANDUAN — isi bagian ini</a:t>
            </a:r>
            <a:endParaRPr b="0" i="0" sz="800" u="none" cap="none" strike="noStrike">
              <a:solidFill>
                <a:schemeClr val="dk1"/>
              </a:solidFill>
              <a:latin typeface="Calibri"/>
              <a:ea typeface="Calibri"/>
              <a:cs typeface="Calibri"/>
              <a:sym typeface="Calibri"/>
            </a:endParaRPr>
          </a:p>
        </p:txBody>
      </p:sp>
      <p:sp>
        <p:nvSpPr>
          <p:cNvPr id="212" name="Google Shape;212;p21"/>
          <p:cNvSpPr/>
          <p:nvPr/>
        </p:nvSpPr>
        <p:spPr>
          <a:xfrm>
            <a:off x="582930" y="1556766"/>
            <a:ext cx="7975854" cy="6720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Tabel akurasi/metrik untuk task Anda, perbandingan dengan baseline jika tersedia, dan analisis error (confusion matrix, failure case, breakdown per kelas). Tampilkan angka secara visual.</a:t>
            </a:r>
            <a:endParaRPr b="0" i="0" sz="1000" u="none" cap="none" strike="noStrike">
              <a:solidFill>
                <a:schemeClr val="dk1"/>
              </a:solidFill>
              <a:latin typeface="Calibri"/>
              <a:ea typeface="Calibri"/>
              <a:cs typeface="Calibri"/>
              <a:sym typeface="Calibri"/>
            </a:endParaRPr>
          </a:p>
        </p:txBody>
      </p:sp>
      <p:sp>
        <p:nvSpPr>
          <p:cNvPr id="213" name="Google Shape;213;p21"/>
          <p:cNvSpPr/>
          <p:nvPr/>
        </p:nvSpPr>
        <p:spPr>
          <a:xfrm>
            <a:off x="411480" y="2503170"/>
            <a:ext cx="8318754" cy="857250"/>
          </a:xfrm>
          <a:prstGeom prst="roundRect">
            <a:avLst>
              <a:gd fmla="val 4800" name="adj"/>
            </a:avLst>
          </a:prstGeom>
          <a:solidFill>
            <a:srgbClr val="FFFFFF"/>
          </a:solidFill>
          <a:ln cap="flat" cmpd="sng" w="12700">
            <a:solidFill>
              <a:srgbClr val="EFD8D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21"/>
          <p:cNvSpPr/>
          <p:nvPr/>
        </p:nvSpPr>
        <p:spPr>
          <a:xfrm>
            <a:off x="582930" y="2612898"/>
            <a:ext cx="797585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304A"/>
              </a:buClr>
              <a:buSzPts val="800"/>
              <a:buFont typeface="Calibri"/>
              <a:buNone/>
            </a:pPr>
            <a:r>
              <a:rPr b="1" i="0" lang="id" sz="800" u="none" cap="none" strike="noStrike">
                <a:solidFill>
                  <a:srgbClr val="B0304A"/>
                </a:solidFill>
                <a:latin typeface="Calibri"/>
                <a:ea typeface="Calibri"/>
                <a:cs typeface="Calibri"/>
                <a:sym typeface="Calibri"/>
              </a:rPr>
              <a:t>OPSIONAL — ablation study</a:t>
            </a:r>
            <a:endParaRPr b="0" i="0" sz="800" u="none" cap="none" strike="noStrike">
              <a:solidFill>
                <a:schemeClr val="dk1"/>
              </a:solidFill>
              <a:latin typeface="Calibri"/>
              <a:ea typeface="Calibri"/>
              <a:cs typeface="Calibri"/>
              <a:sym typeface="Calibri"/>
            </a:endParaRPr>
          </a:p>
        </p:txBody>
      </p:sp>
      <p:sp>
        <p:nvSpPr>
          <p:cNvPr id="215" name="Google Shape;215;p21"/>
          <p:cNvSpPr/>
          <p:nvPr/>
        </p:nvSpPr>
        <p:spPr>
          <a:xfrm>
            <a:off x="582930" y="2859786"/>
            <a:ext cx="7975854" cy="36347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Ablation study — pilihan arsitektur atau preprocessing mana yang benar-benar berpengaruh. Sertakan hanya jika Anda menjalankannya.</a:t>
            </a:r>
            <a:endParaRPr b="0" i="0" sz="1000" u="none" cap="none" strike="noStrike">
              <a:solidFill>
                <a:schemeClr val="dk1"/>
              </a:solidFill>
              <a:latin typeface="Calibri"/>
              <a:ea typeface="Calibri"/>
              <a:cs typeface="Calibri"/>
              <a:sym typeface="Calibri"/>
            </a:endParaRPr>
          </a:p>
        </p:txBody>
      </p:sp>
      <p:sp>
        <p:nvSpPr>
          <p:cNvPr id="216" name="Google Shape;216;p21"/>
          <p:cNvSpPr/>
          <p:nvPr/>
        </p:nvSpPr>
        <p:spPr>
          <a:xfrm>
            <a:off x="411480" y="3531870"/>
            <a:ext cx="2635758" cy="925830"/>
          </a:xfrm>
          <a:prstGeom prst="roundRect">
            <a:avLst>
              <a:gd fmla="val 5926" name="adj"/>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7" name="Google Shape;217;p21"/>
          <p:cNvSpPr/>
          <p:nvPr/>
        </p:nvSpPr>
        <p:spPr>
          <a:xfrm>
            <a:off x="617220" y="3655314"/>
            <a:ext cx="2224278"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id" sz="3000" u="none" cap="none" strike="noStrike">
                <a:solidFill>
                  <a:srgbClr val="FFFFFF"/>
                </a:solidFill>
                <a:latin typeface="Cambria"/>
                <a:ea typeface="Cambria"/>
                <a:cs typeface="Cambria"/>
                <a:sym typeface="Cambria"/>
              </a:rPr>
              <a:t>__ %</a:t>
            </a:r>
            <a:endParaRPr b="0" i="0" sz="3000" u="none" cap="none" strike="noStrike">
              <a:solidFill>
                <a:schemeClr val="dk1"/>
              </a:solidFill>
              <a:latin typeface="Calibri"/>
              <a:ea typeface="Calibri"/>
              <a:cs typeface="Calibri"/>
              <a:sym typeface="Calibri"/>
            </a:endParaRPr>
          </a:p>
        </p:txBody>
      </p:sp>
      <p:sp>
        <p:nvSpPr>
          <p:cNvPr id="218" name="Google Shape;218;p21"/>
          <p:cNvSpPr/>
          <p:nvPr/>
        </p:nvSpPr>
        <p:spPr>
          <a:xfrm>
            <a:off x="617220" y="4183380"/>
            <a:ext cx="222427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CDD5"/>
              </a:buClr>
              <a:buSzPts val="800"/>
              <a:buFont typeface="Calibri"/>
              <a:buNone/>
            </a:pPr>
            <a:r>
              <a:rPr b="1" i="0" lang="id" sz="800" u="none" cap="none" strike="noStrike">
                <a:solidFill>
                  <a:srgbClr val="F0CDD5"/>
                </a:solidFill>
                <a:latin typeface="Calibri"/>
                <a:ea typeface="Calibri"/>
                <a:cs typeface="Calibri"/>
                <a:sym typeface="Calibri"/>
              </a:rPr>
              <a:t>ACCURACY</a:t>
            </a:r>
            <a:endParaRPr b="0" i="0" sz="800" u="none" cap="none" strike="noStrike">
              <a:solidFill>
                <a:schemeClr val="dk1"/>
              </a:solidFill>
              <a:latin typeface="Calibri"/>
              <a:ea typeface="Calibri"/>
              <a:cs typeface="Calibri"/>
              <a:sym typeface="Calibri"/>
            </a:endParaRPr>
          </a:p>
        </p:txBody>
      </p:sp>
      <p:sp>
        <p:nvSpPr>
          <p:cNvPr id="219" name="Google Shape;219;p21"/>
          <p:cNvSpPr/>
          <p:nvPr/>
        </p:nvSpPr>
        <p:spPr>
          <a:xfrm>
            <a:off x="3252978" y="3531870"/>
            <a:ext cx="2635758" cy="925830"/>
          </a:xfrm>
          <a:prstGeom prst="roundRect">
            <a:avLst>
              <a:gd fmla="val 5926" name="adj"/>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0" name="Google Shape;220;p21"/>
          <p:cNvSpPr/>
          <p:nvPr/>
        </p:nvSpPr>
        <p:spPr>
          <a:xfrm>
            <a:off x="3458718" y="3655314"/>
            <a:ext cx="2224278"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id" sz="3000" u="none" cap="none" strike="noStrike">
                <a:solidFill>
                  <a:srgbClr val="FFFFFF"/>
                </a:solidFill>
                <a:latin typeface="Cambria"/>
                <a:ea typeface="Cambria"/>
                <a:cs typeface="Cambria"/>
                <a:sym typeface="Cambria"/>
              </a:rPr>
              <a:t>__</a:t>
            </a:r>
            <a:endParaRPr b="0" i="0" sz="3000" u="none" cap="none" strike="noStrike">
              <a:solidFill>
                <a:schemeClr val="dk1"/>
              </a:solidFill>
              <a:latin typeface="Calibri"/>
              <a:ea typeface="Calibri"/>
              <a:cs typeface="Calibri"/>
              <a:sym typeface="Calibri"/>
            </a:endParaRPr>
          </a:p>
        </p:txBody>
      </p:sp>
      <p:sp>
        <p:nvSpPr>
          <p:cNvPr id="221" name="Google Shape;221;p21"/>
          <p:cNvSpPr/>
          <p:nvPr/>
        </p:nvSpPr>
        <p:spPr>
          <a:xfrm>
            <a:off x="3458718" y="4183380"/>
            <a:ext cx="222427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CDD5"/>
              </a:buClr>
              <a:buSzPts val="800"/>
              <a:buFont typeface="Calibri"/>
              <a:buNone/>
            </a:pPr>
            <a:r>
              <a:rPr b="1" i="0" lang="id" sz="800" u="none" cap="none" strike="noStrike">
                <a:solidFill>
                  <a:srgbClr val="F0CDD5"/>
                </a:solidFill>
                <a:latin typeface="Calibri"/>
                <a:ea typeface="Calibri"/>
                <a:cs typeface="Calibri"/>
                <a:sym typeface="Calibri"/>
              </a:rPr>
              <a:t>F1 / METRIK</a:t>
            </a:r>
            <a:endParaRPr b="0" i="0" sz="800" u="none" cap="none" strike="noStrike">
              <a:solidFill>
                <a:schemeClr val="dk1"/>
              </a:solidFill>
              <a:latin typeface="Calibri"/>
              <a:ea typeface="Calibri"/>
              <a:cs typeface="Calibri"/>
              <a:sym typeface="Calibri"/>
            </a:endParaRPr>
          </a:p>
        </p:txBody>
      </p:sp>
      <p:sp>
        <p:nvSpPr>
          <p:cNvPr id="222" name="Google Shape;222;p21"/>
          <p:cNvSpPr/>
          <p:nvPr/>
        </p:nvSpPr>
        <p:spPr>
          <a:xfrm>
            <a:off x="6094476" y="3531870"/>
            <a:ext cx="2635758" cy="925830"/>
          </a:xfrm>
          <a:prstGeom prst="roundRect">
            <a:avLst>
              <a:gd fmla="val 5926" name="adj"/>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3" name="Google Shape;223;p21"/>
          <p:cNvSpPr/>
          <p:nvPr/>
        </p:nvSpPr>
        <p:spPr>
          <a:xfrm>
            <a:off x="6300216" y="3655314"/>
            <a:ext cx="2224278"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id" sz="3000" u="none" cap="none" strike="noStrike">
                <a:solidFill>
                  <a:srgbClr val="FFFFFF"/>
                </a:solidFill>
                <a:latin typeface="Cambria"/>
                <a:ea typeface="Cambria"/>
                <a:cs typeface="Cambria"/>
                <a:sym typeface="Cambria"/>
              </a:rPr>
              <a:t>+__</a:t>
            </a:r>
            <a:endParaRPr b="0" i="0" sz="3000" u="none" cap="none" strike="noStrike">
              <a:solidFill>
                <a:schemeClr val="dk1"/>
              </a:solidFill>
              <a:latin typeface="Calibri"/>
              <a:ea typeface="Calibri"/>
              <a:cs typeface="Calibri"/>
              <a:sym typeface="Calibri"/>
            </a:endParaRPr>
          </a:p>
        </p:txBody>
      </p:sp>
      <p:sp>
        <p:nvSpPr>
          <p:cNvPr id="224" name="Google Shape;224;p21"/>
          <p:cNvSpPr/>
          <p:nvPr/>
        </p:nvSpPr>
        <p:spPr>
          <a:xfrm>
            <a:off x="6300216" y="4183380"/>
            <a:ext cx="2224278"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CDD5"/>
              </a:buClr>
              <a:buSzPts val="800"/>
              <a:buFont typeface="Calibri"/>
              <a:buNone/>
            </a:pPr>
            <a:r>
              <a:rPr b="1" i="0" lang="id" sz="800" u="none" cap="none" strike="noStrike">
                <a:solidFill>
                  <a:srgbClr val="F0CDD5"/>
                </a:solidFill>
                <a:latin typeface="Calibri"/>
                <a:ea typeface="Calibri"/>
                <a:cs typeface="Calibri"/>
                <a:sym typeface="Calibri"/>
              </a:rPr>
              <a:t>VS. BASELINE</a:t>
            </a:r>
            <a:endParaRPr b="0" i="0" sz="800" u="none" cap="none" strike="noStrike">
              <a:solidFill>
                <a:schemeClr val="dk1"/>
              </a:solidFill>
              <a:latin typeface="Calibri"/>
              <a:ea typeface="Calibri"/>
              <a:cs typeface="Calibri"/>
              <a:sym typeface="Calibri"/>
            </a:endParaRPr>
          </a:p>
        </p:txBody>
      </p:sp>
      <p:sp>
        <p:nvSpPr>
          <p:cNvPr id="225" name="Google Shape;225;p21"/>
          <p:cNvSpPr/>
          <p:nvPr/>
        </p:nvSpPr>
        <p:spPr>
          <a:xfrm>
            <a:off x="411480" y="481431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ICDeC — Final Report Template</a:t>
            </a:r>
            <a:endParaRPr b="0" i="0" sz="700" u="none" cap="none" strike="noStrike">
              <a:solidFill>
                <a:schemeClr val="dk1"/>
              </a:solidFill>
              <a:latin typeface="Calibri"/>
              <a:ea typeface="Calibri"/>
              <a:cs typeface="Calibri"/>
              <a:sym typeface="Calibri"/>
            </a:endParaRPr>
          </a:p>
        </p:txBody>
      </p:sp>
      <p:sp>
        <p:nvSpPr>
          <p:cNvPr id="226" name="Google Shape;226;p21"/>
          <p:cNvSpPr/>
          <p:nvPr/>
        </p:nvSpPr>
        <p:spPr>
          <a:xfrm>
            <a:off x="8044434" y="4814316"/>
            <a:ext cx="6858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7</a:t>
            </a:r>
            <a:endParaRPr b="0" i="0" sz="700" u="none" cap="none" strike="noStrike">
              <a:solidFill>
                <a:schemeClr val="dk1"/>
              </a:solidFill>
              <a:latin typeface="Calibri"/>
              <a:ea typeface="Calibri"/>
              <a:cs typeface="Calibri"/>
              <a:sym typeface="Calibri"/>
            </a:endParaRPr>
          </a:p>
        </p:txBody>
      </p:sp>
      <p:pic>
        <p:nvPicPr>
          <p:cNvPr id="227" name="Google Shape;227;p21"/>
          <p:cNvPicPr preferRelativeResize="0"/>
          <p:nvPr/>
        </p:nvPicPr>
        <p:blipFill>
          <a:blip r:embed="rId3">
            <a:alphaModFix/>
          </a:blip>
          <a:stretch>
            <a:fillRect/>
          </a:stretch>
        </p:blipFill>
        <p:spPr>
          <a:xfrm>
            <a:off x="7980249" y="0"/>
            <a:ext cx="1163763" cy="10474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sp>
        <p:nvSpPr>
          <p:cNvPr id="233" name="Google Shape;233;p22"/>
          <p:cNvSpPr/>
          <p:nvPr/>
        </p:nvSpPr>
        <p:spPr>
          <a:xfrm>
            <a:off x="411480" y="377190"/>
            <a:ext cx="617220" cy="617220"/>
          </a:xfrm>
          <a:prstGeom prst="rect">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4" name="Google Shape;234;p22"/>
          <p:cNvSpPr/>
          <p:nvPr/>
        </p:nvSpPr>
        <p:spPr>
          <a:xfrm>
            <a:off x="411480" y="377190"/>
            <a:ext cx="617220"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id" sz="2600" u="none" cap="none" strike="noStrike">
                <a:solidFill>
                  <a:srgbClr val="FFFFFF"/>
                </a:solidFill>
                <a:latin typeface="Cambria"/>
                <a:ea typeface="Cambria"/>
                <a:cs typeface="Cambria"/>
                <a:sym typeface="Cambria"/>
              </a:rPr>
              <a:t>6</a:t>
            </a:r>
            <a:endParaRPr b="0" i="0" sz="2600" u="none" cap="none" strike="noStrike">
              <a:solidFill>
                <a:schemeClr val="dk1"/>
              </a:solidFill>
              <a:latin typeface="Calibri"/>
              <a:ea typeface="Calibri"/>
              <a:cs typeface="Calibri"/>
              <a:sym typeface="Calibri"/>
            </a:endParaRPr>
          </a:p>
        </p:txBody>
      </p:sp>
      <p:sp>
        <p:nvSpPr>
          <p:cNvPr id="235" name="Google Shape;235;p22"/>
          <p:cNvSpPr/>
          <p:nvPr/>
        </p:nvSpPr>
        <p:spPr>
          <a:xfrm>
            <a:off x="1200150" y="377190"/>
            <a:ext cx="753008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2300"/>
              <a:buFont typeface="Cambria"/>
              <a:buNone/>
            </a:pPr>
            <a:r>
              <a:rPr b="1" i="0" lang="id" sz="2300" u="none" cap="none" strike="noStrike">
                <a:solidFill>
                  <a:srgbClr val="7A1220"/>
                </a:solidFill>
                <a:latin typeface="Cambria"/>
                <a:ea typeface="Cambria"/>
                <a:cs typeface="Cambria"/>
                <a:sym typeface="Cambria"/>
              </a:rPr>
              <a:t>Deployment — Standard Metric Summary</a:t>
            </a:r>
            <a:endParaRPr b="0" i="0" sz="2300" u="none" cap="none" strike="noStrike">
              <a:solidFill>
                <a:schemeClr val="dk1"/>
              </a:solidFill>
              <a:latin typeface="Calibri"/>
              <a:ea typeface="Calibri"/>
              <a:cs typeface="Calibri"/>
              <a:sym typeface="Calibri"/>
            </a:endParaRPr>
          </a:p>
        </p:txBody>
      </p:sp>
      <p:sp>
        <p:nvSpPr>
          <p:cNvPr id="236" name="Google Shape;236;p22"/>
          <p:cNvSpPr/>
          <p:nvPr/>
        </p:nvSpPr>
        <p:spPr>
          <a:xfrm>
            <a:off x="411480" y="1131570"/>
            <a:ext cx="8318754"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7A1220"/>
              </a:buClr>
              <a:buSzPts val="1000"/>
              <a:buFont typeface="Calibri"/>
              <a:buNone/>
            </a:pPr>
            <a:r>
              <a:rPr b="1" i="0" lang="id" sz="1000" u="none" cap="none" strike="noStrike">
                <a:solidFill>
                  <a:srgbClr val="7A1220"/>
                </a:solidFill>
                <a:latin typeface="Calibri"/>
                <a:ea typeface="Calibri"/>
                <a:cs typeface="Calibri"/>
                <a:sym typeface="Calibri"/>
              </a:rPr>
              <a:t>WAJIB.  </a:t>
            </a:r>
            <a:r>
              <a:rPr b="0" i="1" lang="id" sz="1000" u="none" cap="none" strike="noStrike">
                <a:solidFill>
                  <a:srgbClr val="8A6A70"/>
                </a:solidFill>
                <a:latin typeface="Calibri"/>
                <a:ea typeface="Calibri"/>
                <a:cs typeface="Calibri"/>
                <a:sym typeface="Calibri"/>
              </a:rPr>
              <a:t>Nama kolom persis seperti di bawah, satu baris per varian model yang di-deploy. Tabel ini langsung menjadi input untuk NPU reference workload table.</a:t>
            </a:r>
            <a:endParaRPr b="0" i="0" sz="1000" u="none" cap="none" strike="noStrike">
              <a:solidFill>
                <a:schemeClr val="dk1"/>
              </a:solidFill>
              <a:latin typeface="Calibri"/>
              <a:ea typeface="Calibri"/>
              <a:cs typeface="Calibri"/>
              <a:sym typeface="Calibri"/>
            </a:endParaRPr>
          </a:p>
        </p:txBody>
      </p:sp>
      <p:graphicFrame>
        <p:nvGraphicFramePr>
          <p:cNvPr id="237" name="Google Shape;237;p22"/>
          <p:cNvGraphicFramePr/>
          <p:nvPr/>
        </p:nvGraphicFramePr>
        <p:xfrm>
          <a:off x="411480" y="1645920"/>
          <a:ext cx="3000000" cy="3000000"/>
        </p:xfrm>
        <a:graphic>
          <a:graphicData uri="http://schemas.openxmlformats.org/drawingml/2006/table">
            <a:tbl>
              <a:tblPr>
                <a:noFill/>
                <a:tableStyleId>{BD4671C9-3D53-4846-A014-A546F69AEF62}</a:tableStyleId>
              </a:tblPr>
              <a:tblGrid>
                <a:gridCol w="831875"/>
                <a:gridCol w="831875"/>
                <a:gridCol w="831875"/>
                <a:gridCol w="831875"/>
                <a:gridCol w="831875"/>
                <a:gridCol w="831875"/>
                <a:gridCol w="831875"/>
                <a:gridCol w="831875"/>
                <a:gridCol w="831875"/>
                <a:gridCol w="831875"/>
              </a:tblGrid>
              <a:tr h="377175">
                <a:tc>
                  <a:txBody>
                    <a:bodyPr/>
                    <a:lstStyle/>
                    <a:p>
                      <a:pPr indent="0" lvl="0" marL="0" marR="0" rtl="0" algn="ctr">
                        <a:spcBef>
                          <a:spcPts val="0"/>
                        </a:spcBef>
                        <a:spcAft>
                          <a:spcPts val="0"/>
                        </a:spcAft>
                        <a:buClr>
                          <a:srgbClr val="FFFFFF"/>
                        </a:buClr>
                        <a:buSzPts val="800"/>
                        <a:buFont typeface="Calibri"/>
                        <a:buNone/>
                      </a:pPr>
                      <a:r>
                        <a:rPr b="1" lang="id" sz="800" u="none" cap="none" strike="noStrike">
                          <a:solidFill>
                            <a:srgbClr val="FFFFFF"/>
                          </a:solidFill>
                          <a:latin typeface="Calibri"/>
                          <a:ea typeface="Calibri"/>
                          <a:cs typeface="Calibri"/>
                          <a:sym typeface="Calibri"/>
                        </a:rPr>
                        <a:t>Sensor</a:t>
                      </a:r>
                      <a:endParaRPr sz="800" u="none" cap="none" strike="noStrike">
                        <a:latin typeface="Calibri"/>
                        <a:ea typeface="Calibri"/>
                        <a:cs typeface="Calibri"/>
                        <a:sym typeface="Calibri"/>
                      </a:endParaRPr>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7A1220"/>
                    </a:solidFill>
                  </a:tcPr>
                </a:tc>
                <a:tc>
                  <a:txBody>
                    <a:bodyPr/>
                    <a:lstStyle/>
                    <a:p>
                      <a:pPr indent="0" lvl="0" marL="0" marR="0" rtl="0" algn="ctr">
                        <a:spcBef>
                          <a:spcPts val="0"/>
                        </a:spcBef>
                        <a:spcAft>
                          <a:spcPts val="0"/>
                        </a:spcAft>
                        <a:buClr>
                          <a:srgbClr val="FFFFFF"/>
                        </a:buClr>
                        <a:buSzPts val="800"/>
                        <a:buFont typeface="Calibri"/>
                        <a:buNone/>
                      </a:pPr>
                      <a:r>
                        <a:rPr b="1" lang="id" sz="800" u="none" cap="none" strike="noStrike">
                          <a:solidFill>
                            <a:srgbClr val="FFFFFF"/>
                          </a:solidFill>
                          <a:latin typeface="Calibri"/>
                          <a:ea typeface="Calibri"/>
                          <a:cs typeface="Calibri"/>
                          <a:sym typeface="Calibri"/>
                        </a:rPr>
                        <a:t>Model Arch</a:t>
                      </a:r>
                      <a:endParaRPr sz="800" u="none" cap="none" strike="noStrike">
                        <a:latin typeface="Calibri"/>
                        <a:ea typeface="Calibri"/>
                        <a:cs typeface="Calibri"/>
                        <a:sym typeface="Calibri"/>
                      </a:endParaRPr>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7A1220"/>
                    </a:solidFill>
                  </a:tcPr>
                </a:tc>
                <a:tc>
                  <a:txBody>
                    <a:bodyPr/>
                    <a:lstStyle/>
                    <a:p>
                      <a:pPr indent="0" lvl="0" marL="0" marR="0" rtl="0" algn="ctr">
                        <a:spcBef>
                          <a:spcPts val="0"/>
                        </a:spcBef>
                        <a:spcAft>
                          <a:spcPts val="0"/>
                        </a:spcAft>
                        <a:buClr>
                          <a:srgbClr val="FFFFFF"/>
                        </a:buClr>
                        <a:buSzPts val="800"/>
                        <a:buFont typeface="Calibri"/>
                        <a:buNone/>
                      </a:pPr>
                      <a:r>
                        <a:rPr b="1" lang="id" sz="800" u="none" cap="none" strike="noStrike">
                          <a:solidFill>
                            <a:srgbClr val="FFFFFF"/>
                          </a:solidFill>
                          <a:latin typeface="Calibri"/>
                          <a:ea typeface="Calibri"/>
                          <a:cs typeface="Calibri"/>
                          <a:sym typeface="Calibri"/>
                        </a:rPr>
                        <a:t>Input Shape</a:t>
                      </a:r>
                      <a:endParaRPr sz="800" u="none" cap="none" strike="noStrike">
                        <a:latin typeface="Calibri"/>
                        <a:ea typeface="Calibri"/>
                        <a:cs typeface="Calibri"/>
                        <a:sym typeface="Calibri"/>
                      </a:endParaRPr>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7A1220"/>
                    </a:solidFill>
                  </a:tcPr>
                </a:tc>
                <a:tc>
                  <a:txBody>
                    <a:bodyPr/>
                    <a:lstStyle/>
                    <a:p>
                      <a:pPr indent="0" lvl="0" marL="0" marR="0" rtl="0" algn="ctr">
                        <a:spcBef>
                          <a:spcPts val="0"/>
                        </a:spcBef>
                        <a:spcAft>
                          <a:spcPts val="0"/>
                        </a:spcAft>
                        <a:buClr>
                          <a:srgbClr val="FFFFFF"/>
                        </a:buClr>
                        <a:buSzPts val="800"/>
                        <a:buFont typeface="Calibri"/>
                        <a:buNone/>
                      </a:pPr>
                      <a:r>
                        <a:rPr b="1" lang="id" sz="800" u="none" cap="none" strike="noStrike">
                          <a:solidFill>
                            <a:srgbClr val="FFFFFF"/>
                          </a:solidFill>
                          <a:latin typeface="Calibri"/>
                          <a:ea typeface="Calibri"/>
                          <a:cs typeface="Calibri"/>
                          <a:sym typeface="Calibri"/>
                        </a:rPr>
                        <a:t>Params</a:t>
                      </a:r>
                      <a:endParaRPr sz="800" u="none" cap="none" strike="noStrike">
                        <a:latin typeface="Calibri"/>
                        <a:ea typeface="Calibri"/>
                        <a:cs typeface="Calibri"/>
                        <a:sym typeface="Calibri"/>
                      </a:endParaRPr>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7A1220"/>
                    </a:solidFill>
                  </a:tcPr>
                </a:tc>
                <a:tc>
                  <a:txBody>
                    <a:bodyPr/>
                    <a:lstStyle/>
                    <a:p>
                      <a:pPr indent="0" lvl="0" marL="0" marR="0" rtl="0" algn="ctr">
                        <a:spcBef>
                          <a:spcPts val="0"/>
                        </a:spcBef>
                        <a:spcAft>
                          <a:spcPts val="0"/>
                        </a:spcAft>
                        <a:buClr>
                          <a:srgbClr val="FFFFFF"/>
                        </a:buClr>
                        <a:buSzPts val="800"/>
                        <a:buFont typeface="Calibri"/>
                        <a:buNone/>
                      </a:pPr>
                      <a:r>
                        <a:rPr b="1" lang="id" sz="800" u="none" cap="none" strike="noStrike">
                          <a:solidFill>
                            <a:srgbClr val="FFFFFF"/>
                          </a:solidFill>
                          <a:latin typeface="Calibri"/>
                          <a:ea typeface="Calibri"/>
                          <a:cs typeface="Calibri"/>
                          <a:sym typeface="Calibri"/>
                        </a:rPr>
                        <a:t>MAC</a:t>
                      </a:r>
                      <a:endParaRPr sz="800" u="none" cap="none" strike="noStrike">
                        <a:latin typeface="Calibri"/>
                        <a:ea typeface="Calibri"/>
                        <a:cs typeface="Calibri"/>
                        <a:sym typeface="Calibri"/>
                      </a:endParaRPr>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7A1220"/>
                    </a:solidFill>
                  </a:tcPr>
                </a:tc>
                <a:tc>
                  <a:txBody>
                    <a:bodyPr/>
                    <a:lstStyle/>
                    <a:p>
                      <a:pPr indent="0" lvl="0" marL="0" marR="0" rtl="0" algn="ctr">
                        <a:spcBef>
                          <a:spcPts val="0"/>
                        </a:spcBef>
                        <a:spcAft>
                          <a:spcPts val="0"/>
                        </a:spcAft>
                        <a:buClr>
                          <a:srgbClr val="FFFFFF"/>
                        </a:buClr>
                        <a:buSzPts val="800"/>
                        <a:buFont typeface="Calibri"/>
                        <a:buNone/>
                      </a:pPr>
                      <a:r>
                        <a:rPr b="1" lang="id" sz="800" u="none" cap="none" strike="noStrike">
                          <a:solidFill>
                            <a:srgbClr val="FFFFFF"/>
                          </a:solidFill>
                          <a:latin typeface="Calibri"/>
                          <a:ea typeface="Calibri"/>
                          <a:cs typeface="Calibri"/>
                          <a:sym typeface="Calibri"/>
                        </a:rPr>
                        <a:t>Flash</a:t>
                      </a:r>
                      <a:endParaRPr sz="800" u="none" cap="none" strike="noStrike">
                        <a:latin typeface="Calibri"/>
                        <a:ea typeface="Calibri"/>
                        <a:cs typeface="Calibri"/>
                        <a:sym typeface="Calibri"/>
                      </a:endParaRPr>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7A1220"/>
                    </a:solidFill>
                  </a:tcPr>
                </a:tc>
                <a:tc>
                  <a:txBody>
                    <a:bodyPr/>
                    <a:lstStyle/>
                    <a:p>
                      <a:pPr indent="0" lvl="0" marL="0" marR="0" rtl="0" algn="ctr">
                        <a:spcBef>
                          <a:spcPts val="0"/>
                        </a:spcBef>
                        <a:spcAft>
                          <a:spcPts val="0"/>
                        </a:spcAft>
                        <a:buClr>
                          <a:srgbClr val="FFFFFF"/>
                        </a:buClr>
                        <a:buSzPts val="800"/>
                        <a:buFont typeface="Calibri"/>
                        <a:buNone/>
                      </a:pPr>
                      <a:r>
                        <a:rPr b="1" lang="id" sz="800" u="none" cap="none" strike="noStrike">
                          <a:solidFill>
                            <a:srgbClr val="FFFFFF"/>
                          </a:solidFill>
                          <a:latin typeface="Calibri"/>
                          <a:ea typeface="Calibri"/>
                          <a:cs typeface="Calibri"/>
                          <a:sym typeface="Calibri"/>
                        </a:rPr>
                        <a:t>SRAM</a:t>
                      </a:r>
                      <a:endParaRPr sz="800" u="none" cap="none" strike="noStrike">
                        <a:latin typeface="Calibri"/>
                        <a:ea typeface="Calibri"/>
                        <a:cs typeface="Calibri"/>
                        <a:sym typeface="Calibri"/>
                      </a:endParaRPr>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7A1220"/>
                    </a:solidFill>
                  </a:tcPr>
                </a:tc>
                <a:tc>
                  <a:txBody>
                    <a:bodyPr/>
                    <a:lstStyle/>
                    <a:p>
                      <a:pPr indent="0" lvl="0" marL="0" marR="0" rtl="0" algn="ctr">
                        <a:spcBef>
                          <a:spcPts val="0"/>
                        </a:spcBef>
                        <a:spcAft>
                          <a:spcPts val="0"/>
                        </a:spcAft>
                        <a:buClr>
                          <a:srgbClr val="FFFFFF"/>
                        </a:buClr>
                        <a:buSzPts val="800"/>
                        <a:buFont typeface="Calibri"/>
                        <a:buNone/>
                      </a:pPr>
                      <a:r>
                        <a:rPr b="1" lang="id" sz="800" u="none" cap="none" strike="noStrike">
                          <a:solidFill>
                            <a:srgbClr val="FFFFFF"/>
                          </a:solidFill>
                          <a:latin typeface="Calibri"/>
                          <a:ea typeface="Calibri"/>
                          <a:cs typeface="Calibri"/>
                          <a:sym typeface="Calibri"/>
                        </a:rPr>
                        <a:t>Latency</a:t>
                      </a:r>
                      <a:endParaRPr sz="800" u="none" cap="none" strike="noStrike">
                        <a:latin typeface="Calibri"/>
                        <a:ea typeface="Calibri"/>
                        <a:cs typeface="Calibri"/>
                        <a:sym typeface="Calibri"/>
                      </a:endParaRPr>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7A1220"/>
                    </a:solidFill>
                  </a:tcPr>
                </a:tc>
                <a:tc>
                  <a:txBody>
                    <a:bodyPr/>
                    <a:lstStyle/>
                    <a:p>
                      <a:pPr indent="0" lvl="0" marL="0" marR="0" rtl="0" algn="ctr">
                        <a:spcBef>
                          <a:spcPts val="0"/>
                        </a:spcBef>
                        <a:spcAft>
                          <a:spcPts val="0"/>
                        </a:spcAft>
                        <a:buClr>
                          <a:srgbClr val="FFFFFF"/>
                        </a:buClr>
                        <a:buSzPts val="800"/>
                        <a:buFont typeface="Calibri"/>
                        <a:buNone/>
                      </a:pPr>
                      <a:r>
                        <a:rPr b="1" lang="id" sz="800" u="none" cap="none" strike="noStrike">
                          <a:solidFill>
                            <a:srgbClr val="FFFFFF"/>
                          </a:solidFill>
                          <a:latin typeface="Calibri"/>
                          <a:ea typeface="Calibri"/>
                          <a:cs typeface="Calibri"/>
                          <a:sym typeface="Calibri"/>
                        </a:rPr>
                        <a:t>Accuracy</a:t>
                      </a:r>
                      <a:endParaRPr sz="800" u="none" cap="none" strike="noStrike">
                        <a:latin typeface="Calibri"/>
                        <a:ea typeface="Calibri"/>
                        <a:cs typeface="Calibri"/>
                        <a:sym typeface="Calibri"/>
                      </a:endParaRPr>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7A1220"/>
                    </a:solidFill>
                  </a:tcPr>
                </a:tc>
                <a:tc>
                  <a:txBody>
                    <a:bodyPr/>
                    <a:lstStyle/>
                    <a:p>
                      <a:pPr indent="0" lvl="0" marL="0" marR="0" rtl="0" algn="ctr">
                        <a:spcBef>
                          <a:spcPts val="0"/>
                        </a:spcBef>
                        <a:spcAft>
                          <a:spcPts val="0"/>
                        </a:spcAft>
                        <a:buClr>
                          <a:srgbClr val="FFFFFF"/>
                        </a:buClr>
                        <a:buSzPts val="800"/>
                        <a:buFont typeface="Calibri"/>
                        <a:buNone/>
                      </a:pPr>
                      <a:r>
                        <a:rPr b="1" lang="id" sz="800" u="none" cap="none" strike="noStrike">
                          <a:solidFill>
                            <a:srgbClr val="FFFFFF"/>
                          </a:solidFill>
                          <a:latin typeface="Calibri"/>
                          <a:ea typeface="Calibri"/>
                          <a:cs typeface="Calibri"/>
                          <a:sym typeface="Calibri"/>
                        </a:rPr>
                        <a:t>Quantization</a:t>
                      </a:r>
                      <a:endParaRPr sz="800" u="none" cap="none" strike="noStrike">
                        <a:latin typeface="Calibri"/>
                        <a:ea typeface="Calibri"/>
                        <a:cs typeface="Calibri"/>
                        <a:sym typeface="Calibri"/>
                      </a:endParaRPr>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7A1220"/>
                    </a:solidFill>
                  </a:tcPr>
                </a:tc>
              </a:tr>
              <a:tr h="425175">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r>
              <a:tr h="425175">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BF4F6"/>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BF4F6"/>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BF4F6"/>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BF4F6"/>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BF4F6"/>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BF4F6"/>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BF4F6"/>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BF4F6"/>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BF4F6"/>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BF4F6"/>
                    </a:solidFill>
                  </a:tcPr>
                </a:tc>
              </a:tr>
              <a:tr h="425175">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800"/>
                        <a:buFont typeface="Calibri"/>
                        <a:buNone/>
                      </a:pPr>
                      <a:r>
                        <a:t/>
                      </a:r>
                      <a:endParaRPr sz="800" u="none" cap="none" strike="noStrike"/>
                    </a:p>
                  </a:txBody>
                  <a:tcPr marT="34300" marB="34300" marR="68600" marL="68600" anchor="ctr">
                    <a:lnL cap="flat" cmpd="sng" w="9525">
                      <a:solidFill>
                        <a:srgbClr val="E4CBD2"/>
                      </a:solidFill>
                      <a:prstDash val="solid"/>
                      <a:round/>
                      <a:headEnd len="sm" w="sm" type="none"/>
                      <a:tailEnd len="sm" w="sm" type="none"/>
                    </a:lnL>
                    <a:lnR cap="flat" cmpd="sng" w="9525">
                      <a:solidFill>
                        <a:srgbClr val="E4CBD2"/>
                      </a:solidFill>
                      <a:prstDash val="solid"/>
                      <a:round/>
                      <a:headEnd len="sm" w="sm" type="none"/>
                      <a:tailEnd len="sm" w="sm" type="none"/>
                    </a:lnR>
                    <a:lnT cap="flat" cmpd="sng" w="9525">
                      <a:solidFill>
                        <a:srgbClr val="E4CBD2"/>
                      </a:solidFill>
                      <a:prstDash val="solid"/>
                      <a:round/>
                      <a:headEnd len="sm" w="sm" type="none"/>
                      <a:tailEnd len="sm" w="sm" type="none"/>
                    </a:lnT>
                    <a:lnB cap="flat" cmpd="sng" w="9525">
                      <a:solidFill>
                        <a:srgbClr val="E4CBD2"/>
                      </a:solidFill>
                      <a:prstDash val="solid"/>
                      <a:round/>
                      <a:headEnd len="sm" w="sm" type="none"/>
                      <a:tailEnd len="sm" w="sm" type="none"/>
                    </a:lnB>
                    <a:solidFill>
                      <a:srgbClr val="FFFFFF"/>
                    </a:solidFill>
                  </a:tcPr>
                </a:tc>
              </a:tr>
            </a:tbl>
          </a:graphicData>
        </a:graphic>
      </p:graphicFrame>
      <p:sp>
        <p:nvSpPr>
          <p:cNvPr id="238" name="Google Shape;238;p22"/>
          <p:cNvSpPr/>
          <p:nvPr/>
        </p:nvSpPr>
        <p:spPr>
          <a:xfrm>
            <a:off x="411480" y="3669030"/>
            <a:ext cx="8318754" cy="788670"/>
          </a:xfrm>
          <a:prstGeom prst="roundRect">
            <a:avLst>
              <a:gd fmla="val 5217" name="adj"/>
            </a:avLst>
          </a:prstGeom>
          <a:solidFill>
            <a:srgbClr val="F7EBEE"/>
          </a:solidFill>
          <a:ln cap="flat" cmpd="sng" w="12700">
            <a:solidFill>
              <a:srgbClr val="E9CE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9" name="Google Shape;239;p22"/>
          <p:cNvSpPr/>
          <p:nvPr/>
        </p:nvSpPr>
        <p:spPr>
          <a:xfrm>
            <a:off x="582930" y="3778758"/>
            <a:ext cx="797585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800"/>
              <a:buFont typeface="Calibri"/>
              <a:buNone/>
            </a:pPr>
            <a:r>
              <a:rPr b="1" i="0" lang="id" sz="800" u="none" cap="none" strike="noStrike">
                <a:solidFill>
                  <a:srgbClr val="7A1220"/>
                </a:solidFill>
                <a:latin typeface="Calibri"/>
                <a:ea typeface="Calibri"/>
                <a:cs typeface="Calibri"/>
                <a:sym typeface="Calibri"/>
              </a:rPr>
              <a:t>PANDUAN — isi bagian ini</a:t>
            </a:r>
            <a:endParaRPr b="0" i="0" sz="800" u="none" cap="none" strike="noStrike">
              <a:solidFill>
                <a:schemeClr val="dk1"/>
              </a:solidFill>
              <a:latin typeface="Calibri"/>
              <a:ea typeface="Calibri"/>
              <a:cs typeface="Calibri"/>
              <a:sym typeface="Calibri"/>
            </a:endParaRPr>
          </a:p>
        </p:txBody>
      </p:sp>
      <p:sp>
        <p:nvSpPr>
          <p:cNvPr id="240" name="Google Shape;240;p22"/>
          <p:cNvSpPr/>
          <p:nvPr/>
        </p:nvSpPr>
        <p:spPr>
          <a:xfrm>
            <a:off x="582930" y="4025646"/>
            <a:ext cx="7975854" cy="29489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Isi satu baris untuk tiap model. Kosongkan sel hanya jika metrik memang tidak berlaku — jangan hapus kolom.</a:t>
            </a:r>
            <a:endParaRPr b="0" i="0" sz="1000" u="none" cap="none" strike="noStrike">
              <a:solidFill>
                <a:schemeClr val="dk1"/>
              </a:solidFill>
              <a:latin typeface="Calibri"/>
              <a:ea typeface="Calibri"/>
              <a:cs typeface="Calibri"/>
              <a:sym typeface="Calibri"/>
            </a:endParaRPr>
          </a:p>
        </p:txBody>
      </p:sp>
      <p:sp>
        <p:nvSpPr>
          <p:cNvPr id="241" name="Google Shape;241;p22"/>
          <p:cNvSpPr/>
          <p:nvPr/>
        </p:nvSpPr>
        <p:spPr>
          <a:xfrm>
            <a:off x="411480" y="481431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ICDeC — Final Report Template</a:t>
            </a:r>
            <a:endParaRPr b="0" i="0" sz="700" u="none" cap="none" strike="noStrike">
              <a:solidFill>
                <a:schemeClr val="dk1"/>
              </a:solidFill>
              <a:latin typeface="Calibri"/>
              <a:ea typeface="Calibri"/>
              <a:cs typeface="Calibri"/>
              <a:sym typeface="Calibri"/>
            </a:endParaRPr>
          </a:p>
        </p:txBody>
      </p:sp>
      <p:sp>
        <p:nvSpPr>
          <p:cNvPr id="242" name="Google Shape;242;p22"/>
          <p:cNvSpPr/>
          <p:nvPr/>
        </p:nvSpPr>
        <p:spPr>
          <a:xfrm>
            <a:off x="8044434" y="4814316"/>
            <a:ext cx="6858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8</a:t>
            </a:r>
            <a:endParaRPr b="0" i="0" sz="700" u="none" cap="none" strike="noStrike">
              <a:solidFill>
                <a:schemeClr val="dk1"/>
              </a:solidFill>
              <a:latin typeface="Calibri"/>
              <a:ea typeface="Calibri"/>
              <a:cs typeface="Calibri"/>
              <a:sym typeface="Calibri"/>
            </a:endParaRPr>
          </a:p>
        </p:txBody>
      </p:sp>
      <p:pic>
        <p:nvPicPr>
          <p:cNvPr id="243" name="Google Shape;243;p22"/>
          <p:cNvPicPr preferRelativeResize="0"/>
          <p:nvPr/>
        </p:nvPicPr>
        <p:blipFill>
          <a:blip r:embed="rId3">
            <a:alphaModFix/>
          </a:blip>
          <a:stretch>
            <a:fillRect/>
          </a:stretch>
        </p:blipFill>
        <p:spPr>
          <a:xfrm>
            <a:off x="7980249" y="0"/>
            <a:ext cx="1163763" cy="10474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p23"/>
          <p:cNvSpPr/>
          <p:nvPr/>
        </p:nvSpPr>
        <p:spPr>
          <a:xfrm>
            <a:off x="411480" y="377190"/>
            <a:ext cx="617220" cy="617220"/>
          </a:xfrm>
          <a:prstGeom prst="rect">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0" name="Google Shape;250;p23"/>
          <p:cNvSpPr/>
          <p:nvPr/>
        </p:nvSpPr>
        <p:spPr>
          <a:xfrm>
            <a:off x="411480" y="377190"/>
            <a:ext cx="617220"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id" sz="2600" u="none" cap="none" strike="noStrike">
                <a:solidFill>
                  <a:srgbClr val="FFFFFF"/>
                </a:solidFill>
                <a:latin typeface="Cambria"/>
                <a:ea typeface="Cambria"/>
                <a:cs typeface="Cambria"/>
                <a:sym typeface="Cambria"/>
              </a:rPr>
              <a:t>6.</a:t>
            </a:r>
            <a:r>
              <a:rPr b="1" lang="id" sz="2600">
                <a:solidFill>
                  <a:srgbClr val="FFFFFF"/>
                </a:solidFill>
                <a:latin typeface="Cambria"/>
                <a:ea typeface="Cambria"/>
                <a:cs typeface="Cambria"/>
                <a:sym typeface="Cambria"/>
              </a:rPr>
              <a:t>1</a:t>
            </a:r>
            <a:endParaRPr b="0" i="0" sz="2600" u="none" cap="none" strike="noStrike">
              <a:solidFill>
                <a:schemeClr val="dk1"/>
              </a:solidFill>
              <a:latin typeface="Calibri"/>
              <a:ea typeface="Calibri"/>
              <a:cs typeface="Calibri"/>
              <a:sym typeface="Calibri"/>
            </a:endParaRPr>
          </a:p>
        </p:txBody>
      </p:sp>
      <p:sp>
        <p:nvSpPr>
          <p:cNvPr id="251" name="Google Shape;251;p23"/>
          <p:cNvSpPr/>
          <p:nvPr/>
        </p:nvSpPr>
        <p:spPr>
          <a:xfrm>
            <a:off x="1200150" y="377190"/>
            <a:ext cx="753008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2300"/>
              <a:buFont typeface="Cambria"/>
              <a:buNone/>
            </a:pPr>
            <a:r>
              <a:rPr b="1" i="0" lang="id" sz="2300" u="none" cap="none" strike="noStrike">
                <a:solidFill>
                  <a:srgbClr val="7A1220"/>
                </a:solidFill>
                <a:latin typeface="Cambria"/>
                <a:ea typeface="Cambria"/>
                <a:cs typeface="Cambria"/>
                <a:sym typeface="Cambria"/>
              </a:rPr>
              <a:t>Deployment Notes</a:t>
            </a:r>
            <a:endParaRPr b="0" i="0" sz="2300" u="none" cap="none" strike="noStrike">
              <a:solidFill>
                <a:schemeClr val="dk1"/>
              </a:solidFill>
              <a:latin typeface="Calibri"/>
              <a:ea typeface="Calibri"/>
              <a:cs typeface="Calibri"/>
              <a:sym typeface="Calibri"/>
            </a:endParaRPr>
          </a:p>
        </p:txBody>
      </p:sp>
      <p:sp>
        <p:nvSpPr>
          <p:cNvPr id="252" name="Google Shape;252;p23"/>
          <p:cNvSpPr/>
          <p:nvPr/>
        </p:nvSpPr>
        <p:spPr>
          <a:xfrm>
            <a:off x="411480" y="1200150"/>
            <a:ext cx="8318754" cy="1337310"/>
          </a:xfrm>
          <a:prstGeom prst="roundRect">
            <a:avLst>
              <a:gd fmla="val 3077" name="adj"/>
            </a:avLst>
          </a:prstGeom>
          <a:solidFill>
            <a:srgbClr val="F7EBEE"/>
          </a:solidFill>
          <a:ln cap="flat" cmpd="sng" w="12700">
            <a:solidFill>
              <a:srgbClr val="E9CE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3" name="Google Shape;253;p23"/>
          <p:cNvSpPr/>
          <p:nvPr/>
        </p:nvSpPr>
        <p:spPr>
          <a:xfrm>
            <a:off x="582930" y="1309878"/>
            <a:ext cx="797585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800"/>
              <a:buFont typeface="Calibri"/>
              <a:buNone/>
            </a:pPr>
            <a:r>
              <a:rPr b="1" i="0" lang="id" sz="800" u="none" cap="none" strike="noStrike">
                <a:solidFill>
                  <a:srgbClr val="7A1220"/>
                </a:solidFill>
                <a:latin typeface="Calibri"/>
                <a:ea typeface="Calibri"/>
                <a:cs typeface="Calibri"/>
                <a:sym typeface="Calibri"/>
              </a:rPr>
              <a:t>PANDUAN — isi bagian ini</a:t>
            </a:r>
            <a:endParaRPr b="0" i="0" sz="800" u="none" cap="none" strike="noStrike">
              <a:solidFill>
                <a:schemeClr val="dk1"/>
              </a:solidFill>
              <a:latin typeface="Calibri"/>
              <a:ea typeface="Calibri"/>
              <a:cs typeface="Calibri"/>
              <a:sym typeface="Calibri"/>
            </a:endParaRPr>
          </a:p>
        </p:txBody>
      </p:sp>
      <p:sp>
        <p:nvSpPr>
          <p:cNvPr id="254" name="Google Shape;254;p23"/>
          <p:cNvSpPr/>
          <p:nvPr/>
        </p:nvSpPr>
        <p:spPr>
          <a:xfrm>
            <a:off x="582930" y="1556766"/>
            <a:ext cx="7975854" cy="84353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Metode kuantisasi (PTQ / QAT), toolchain yang dipakai (Vela, ExecuTorch, dll.), NPU mapping / utilisasi (%), rincian memory footprint, dan metode pengukuran latency on-device.</a:t>
            </a:r>
            <a:endParaRPr b="0" i="0" sz="1000" u="none" cap="none" strike="noStrike">
              <a:solidFill>
                <a:schemeClr val="dk1"/>
              </a:solidFill>
              <a:latin typeface="Calibri"/>
              <a:ea typeface="Calibri"/>
              <a:cs typeface="Calibri"/>
              <a:sym typeface="Calibri"/>
            </a:endParaRPr>
          </a:p>
        </p:txBody>
      </p:sp>
      <p:sp>
        <p:nvSpPr>
          <p:cNvPr id="255" name="Google Shape;255;p23"/>
          <p:cNvSpPr/>
          <p:nvPr/>
        </p:nvSpPr>
        <p:spPr>
          <a:xfrm>
            <a:off x="411480" y="2674620"/>
            <a:ext cx="8318754" cy="925830"/>
          </a:xfrm>
          <a:prstGeom prst="roundRect">
            <a:avLst>
              <a:gd fmla="val 4444" name="adj"/>
            </a:avLst>
          </a:prstGeom>
          <a:solidFill>
            <a:srgbClr val="FFFFFF"/>
          </a:solidFill>
          <a:ln cap="flat" cmpd="sng" w="12700">
            <a:solidFill>
              <a:srgbClr val="EFD8D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6" name="Google Shape;256;p23"/>
          <p:cNvSpPr/>
          <p:nvPr/>
        </p:nvSpPr>
        <p:spPr>
          <a:xfrm>
            <a:off x="582930" y="2784348"/>
            <a:ext cx="797585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304A"/>
              </a:buClr>
              <a:buSzPts val="800"/>
              <a:buFont typeface="Calibri"/>
              <a:buNone/>
            </a:pPr>
            <a:r>
              <a:rPr b="1" i="0" lang="id" sz="800" u="none" cap="none" strike="noStrike">
                <a:solidFill>
                  <a:srgbClr val="B0304A"/>
                </a:solidFill>
                <a:latin typeface="Calibri"/>
                <a:ea typeface="Calibri"/>
                <a:cs typeface="Calibri"/>
                <a:sym typeface="Calibri"/>
              </a:rPr>
              <a:t>OPSIONAL — live monitoring</a:t>
            </a:r>
            <a:endParaRPr b="0" i="0" sz="800" u="none" cap="none" strike="noStrike">
              <a:solidFill>
                <a:schemeClr val="dk1"/>
              </a:solidFill>
              <a:latin typeface="Calibri"/>
              <a:ea typeface="Calibri"/>
              <a:cs typeface="Calibri"/>
              <a:sym typeface="Calibri"/>
            </a:endParaRPr>
          </a:p>
        </p:txBody>
      </p:sp>
      <p:sp>
        <p:nvSpPr>
          <p:cNvPr id="257" name="Google Shape;257;p23"/>
          <p:cNvSpPr/>
          <p:nvPr/>
        </p:nvSpPr>
        <p:spPr>
          <a:xfrm>
            <a:off x="582930" y="3031236"/>
            <a:ext cx="7975854" cy="43205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Live monitoring — jika Anda membangun demo (live sensor feed → inference → display/output), jelaskan setup dan perilakunya di sini atau sebagai bagian tersendiri.</a:t>
            </a:r>
            <a:endParaRPr b="0" i="0" sz="1000" u="none" cap="none" strike="noStrike">
              <a:solidFill>
                <a:schemeClr val="dk1"/>
              </a:solidFill>
              <a:latin typeface="Calibri"/>
              <a:ea typeface="Calibri"/>
              <a:cs typeface="Calibri"/>
              <a:sym typeface="Calibri"/>
            </a:endParaRPr>
          </a:p>
        </p:txBody>
      </p:sp>
      <p:sp>
        <p:nvSpPr>
          <p:cNvPr id="258" name="Google Shape;258;p23"/>
          <p:cNvSpPr/>
          <p:nvPr/>
        </p:nvSpPr>
        <p:spPr>
          <a:xfrm>
            <a:off x="411480" y="3806190"/>
            <a:ext cx="1554022" cy="582930"/>
          </a:xfrm>
          <a:prstGeom prst="roundRect">
            <a:avLst>
              <a:gd fmla="val 7059" name="adj"/>
            </a:avLst>
          </a:prstGeom>
          <a:solidFill>
            <a:srgbClr val="FBF4F6"/>
          </a:solidFill>
          <a:ln cap="flat" cmpd="sng" w="12700">
            <a:solidFill>
              <a:srgbClr val="EAD3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9" name="Google Shape;259;p23"/>
          <p:cNvSpPr/>
          <p:nvPr/>
        </p:nvSpPr>
        <p:spPr>
          <a:xfrm>
            <a:off x="480060" y="3806190"/>
            <a:ext cx="1416862"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1220"/>
              </a:buClr>
              <a:buSzPts val="800"/>
              <a:buFont typeface="Calibri"/>
              <a:buNone/>
            </a:pPr>
            <a:r>
              <a:rPr b="1" i="0" lang="id" sz="800" u="none" cap="none" strike="noStrike">
                <a:solidFill>
                  <a:srgbClr val="7A1220"/>
                </a:solidFill>
                <a:latin typeface="Calibri"/>
                <a:ea typeface="Calibri"/>
                <a:cs typeface="Calibri"/>
                <a:sym typeface="Calibri"/>
              </a:rPr>
              <a:t>Kuantisasi</a:t>
            </a:r>
            <a:endParaRPr b="0" i="0" sz="800" u="none" cap="none" strike="noStrike">
              <a:solidFill>
                <a:schemeClr val="dk1"/>
              </a:solidFill>
              <a:latin typeface="Calibri"/>
              <a:ea typeface="Calibri"/>
              <a:cs typeface="Calibri"/>
              <a:sym typeface="Calibri"/>
            </a:endParaRPr>
          </a:p>
        </p:txBody>
      </p:sp>
      <p:sp>
        <p:nvSpPr>
          <p:cNvPr id="260" name="Google Shape;260;p23"/>
          <p:cNvSpPr/>
          <p:nvPr/>
        </p:nvSpPr>
        <p:spPr>
          <a:xfrm>
            <a:off x="2102663" y="3806190"/>
            <a:ext cx="1554022" cy="582930"/>
          </a:xfrm>
          <a:prstGeom prst="roundRect">
            <a:avLst>
              <a:gd fmla="val 7059" name="adj"/>
            </a:avLst>
          </a:prstGeom>
          <a:solidFill>
            <a:srgbClr val="FBF4F6"/>
          </a:solidFill>
          <a:ln cap="flat" cmpd="sng" w="12700">
            <a:solidFill>
              <a:srgbClr val="EAD3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1" name="Google Shape;261;p23"/>
          <p:cNvSpPr/>
          <p:nvPr/>
        </p:nvSpPr>
        <p:spPr>
          <a:xfrm>
            <a:off x="2171243" y="3806190"/>
            <a:ext cx="1416863"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1220"/>
              </a:buClr>
              <a:buSzPts val="800"/>
              <a:buFont typeface="Calibri"/>
              <a:buNone/>
            </a:pPr>
            <a:r>
              <a:rPr b="1" i="0" lang="id" sz="800" u="none" cap="none" strike="noStrike">
                <a:solidFill>
                  <a:srgbClr val="7A1220"/>
                </a:solidFill>
                <a:latin typeface="Calibri"/>
                <a:ea typeface="Calibri"/>
                <a:cs typeface="Calibri"/>
                <a:sym typeface="Calibri"/>
              </a:rPr>
              <a:t>Toolchain</a:t>
            </a:r>
            <a:endParaRPr b="0" i="0" sz="800" u="none" cap="none" strike="noStrike">
              <a:solidFill>
                <a:schemeClr val="dk1"/>
              </a:solidFill>
              <a:latin typeface="Calibri"/>
              <a:ea typeface="Calibri"/>
              <a:cs typeface="Calibri"/>
              <a:sym typeface="Calibri"/>
            </a:endParaRPr>
          </a:p>
        </p:txBody>
      </p:sp>
      <p:sp>
        <p:nvSpPr>
          <p:cNvPr id="262" name="Google Shape;262;p23"/>
          <p:cNvSpPr/>
          <p:nvPr/>
        </p:nvSpPr>
        <p:spPr>
          <a:xfrm>
            <a:off x="3793846" y="3806190"/>
            <a:ext cx="1554022" cy="582930"/>
          </a:xfrm>
          <a:prstGeom prst="roundRect">
            <a:avLst>
              <a:gd fmla="val 7059" name="adj"/>
            </a:avLst>
          </a:prstGeom>
          <a:solidFill>
            <a:srgbClr val="FBF4F6"/>
          </a:solidFill>
          <a:ln cap="flat" cmpd="sng" w="12700">
            <a:solidFill>
              <a:srgbClr val="EAD3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3" name="Google Shape;263;p23"/>
          <p:cNvSpPr/>
          <p:nvPr/>
        </p:nvSpPr>
        <p:spPr>
          <a:xfrm>
            <a:off x="3862426" y="3806190"/>
            <a:ext cx="1416863"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1220"/>
              </a:buClr>
              <a:buSzPts val="800"/>
              <a:buFont typeface="Calibri"/>
              <a:buNone/>
            </a:pPr>
            <a:r>
              <a:rPr b="1" i="0" lang="id" sz="800" u="none" cap="none" strike="noStrike">
                <a:solidFill>
                  <a:srgbClr val="7A1220"/>
                </a:solidFill>
                <a:latin typeface="Calibri"/>
                <a:ea typeface="Calibri"/>
                <a:cs typeface="Calibri"/>
                <a:sym typeface="Calibri"/>
              </a:rPr>
              <a:t>NPU utilisasi</a:t>
            </a:r>
            <a:endParaRPr b="0" i="0" sz="800" u="none" cap="none" strike="noStrike">
              <a:solidFill>
                <a:schemeClr val="dk1"/>
              </a:solidFill>
              <a:latin typeface="Calibri"/>
              <a:ea typeface="Calibri"/>
              <a:cs typeface="Calibri"/>
              <a:sym typeface="Calibri"/>
            </a:endParaRPr>
          </a:p>
        </p:txBody>
      </p:sp>
      <p:sp>
        <p:nvSpPr>
          <p:cNvPr id="264" name="Google Shape;264;p23"/>
          <p:cNvSpPr/>
          <p:nvPr/>
        </p:nvSpPr>
        <p:spPr>
          <a:xfrm>
            <a:off x="5485028" y="3806190"/>
            <a:ext cx="1554023" cy="582930"/>
          </a:xfrm>
          <a:prstGeom prst="roundRect">
            <a:avLst>
              <a:gd fmla="val 7059" name="adj"/>
            </a:avLst>
          </a:prstGeom>
          <a:solidFill>
            <a:srgbClr val="FBF4F6"/>
          </a:solidFill>
          <a:ln cap="flat" cmpd="sng" w="12700">
            <a:solidFill>
              <a:srgbClr val="EAD3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5" name="Google Shape;265;p23"/>
          <p:cNvSpPr/>
          <p:nvPr/>
        </p:nvSpPr>
        <p:spPr>
          <a:xfrm>
            <a:off x="5553608" y="3806190"/>
            <a:ext cx="1416863"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1220"/>
              </a:buClr>
              <a:buSzPts val="800"/>
              <a:buFont typeface="Calibri"/>
              <a:buNone/>
            </a:pPr>
            <a:r>
              <a:rPr b="1" i="0" lang="id" sz="800" u="none" cap="none" strike="noStrike">
                <a:solidFill>
                  <a:srgbClr val="7A1220"/>
                </a:solidFill>
                <a:latin typeface="Calibri"/>
                <a:ea typeface="Calibri"/>
                <a:cs typeface="Calibri"/>
                <a:sym typeface="Calibri"/>
              </a:rPr>
              <a:t>Memory footprint</a:t>
            </a:r>
            <a:endParaRPr b="0" i="0" sz="800" u="none" cap="none" strike="noStrike">
              <a:solidFill>
                <a:schemeClr val="dk1"/>
              </a:solidFill>
              <a:latin typeface="Calibri"/>
              <a:ea typeface="Calibri"/>
              <a:cs typeface="Calibri"/>
              <a:sym typeface="Calibri"/>
            </a:endParaRPr>
          </a:p>
        </p:txBody>
      </p:sp>
      <p:sp>
        <p:nvSpPr>
          <p:cNvPr id="266" name="Google Shape;266;p23"/>
          <p:cNvSpPr/>
          <p:nvPr/>
        </p:nvSpPr>
        <p:spPr>
          <a:xfrm>
            <a:off x="7176212" y="3806190"/>
            <a:ext cx="1554022" cy="582930"/>
          </a:xfrm>
          <a:prstGeom prst="roundRect">
            <a:avLst>
              <a:gd fmla="val 7059" name="adj"/>
            </a:avLst>
          </a:prstGeom>
          <a:solidFill>
            <a:srgbClr val="FBF4F6"/>
          </a:solidFill>
          <a:ln cap="flat" cmpd="sng" w="12700">
            <a:solidFill>
              <a:srgbClr val="EAD3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7" name="Google Shape;267;p23"/>
          <p:cNvSpPr/>
          <p:nvPr/>
        </p:nvSpPr>
        <p:spPr>
          <a:xfrm>
            <a:off x="7244792" y="3806190"/>
            <a:ext cx="1416863"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1220"/>
              </a:buClr>
              <a:buSzPts val="800"/>
              <a:buFont typeface="Calibri"/>
              <a:buNone/>
            </a:pPr>
            <a:r>
              <a:rPr b="1" i="0" lang="id" sz="800" u="none" cap="none" strike="noStrike">
                <a:solidFill>
                  <a:srgbClr val="7A1220"/>
                </a:solidFill>
                <a:latin typeface="Calibri"/>
                <a:ea typeface="Calibri"/>
                <a:cs typeface="Calibri"/>
                <a:sym typeface="Calibri"/>
              </a:rPr>
              <a:t>Metode ukur latency</a:t>
            </a:r>
            <a:endParaRPr b="0" i="0" sz="800" u="none" cap="none" strike="noStrike">
              <a:solidFill>
                <a:schemeClr val="dk1"/>
              </a:solidFill>
              <a:latin typeface="Calibri"/>
              <a:ea typeface="Calibri"/>
              <a:cs typeface="Calibri"/>
              <a:sym typeface="Calibri"/>
            </a:endParaRPr>
          </a:p>
        </p:txBody>
      </p:sp>
      <p:sp>
        <p:nvSpPr>
          <p:cNvPr id="268" name="Google Shape;268;p23"/>
          <p:cNvSpPr/>
          <p:nvPr/>
        </p:nvSpPr>
        <p:spPr>
          <a:xfrm>
            <a:off x="411480" y="481431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ICDeC — Final Report Template</a:t>
            </a:r>
            <a:endParaRPr b="0" i="0" sz="700" u="none" cap="none" strike="noStrike">
              <a:solidFill>
                <a:schemeClr val="dk1"/>
              </a:solidFill>
              <a:latin typeface="Calibri"/>
              <a:ea typeface="Calibri"/>
              <a:cs typeface="Calibri"/>
              <a:sym typeface="Calibri"/>
            </a:endParaRPr>
          </a:p>
        </p:txBody>
      </p:sp>
      <p:sp>
        <p:nvSpPr>
          <p:cNvPr id="269" name="Google Shape;269;p23"/>
          <p:cNvSpPr/>
          <p:nvPr/>
        </p:nvSpPr>
        <p:spPr>
          <a:xfrm>
            <a:off x="8044434" y="4814316"/>
            <a:ext cx="6858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9</a:t>
            </a:r>
            <a:endParaRPr b="0" i="0" sz="700" u="none" cap="none" strike="noStrike">
              <a:solidFill>
                <a:schemeClr val="dk1"/>
              </a:solidFill>
              <a:latin typeface="Calibri"/>
              <a:ea typeface="Calibri"/>
              <a:cs typeface="Calibri"/>
              <a:sym typeface="Calibri"/>
            </a:endParaRPr>
          </a:p>
        </p:txBody>
      </p:sp>
      <p:pic>
        <p:nvPicPr>
          <p:cNvPr id="270" name="Google Shape;270;p23"/>
          <p:cNvPicPr preferRelativeResize="0"/>
          <p:nvPr/>
        </p:nvPicPr>
        <p:blipFill>
          <a:blip r:embed="rId3">
            <a:alphaModFix/>
          </a:blip>
          <a:stretch>
            <a:fillRect/>
          </a:stretch>
        </p:blipFill>
        <p:spPr>
          <a:xfrm>
            <a:off x="7980249" y="0"/>
            <a:ext cx="1163763" cy="10474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24"/>
          <p:cNvSpPr/>
          <p:nvPr/>
        </p:nvSpPr>
        <p:spPr>
          <a:xfrm>
            <a:off x="411480" y="377190"/>
            <a:ext cx="617220" cy="617220"/>
          </a:xfrm>
          <a:prstGeom prst="rect">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7" name="Google Shape;277;p24"/>
          <p:cNvSpPr/>
          <p:nvPr/>
        </p:nvSpPr>
        <p:spPr>
          <a:xfrm>
            <a:off x="411480" y="377190"/>
            <a:ext cx="617220" cy="6172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id" sz="2600" u="none" cap="none" strike="noStrike">
                <a:solidFill>
                  <a:srgbClr val="FFFFFF"/>
                </a:solidFill>
                <a:latin typeface="Cambria"/>
                <a:ea typeface="Cambria"/>
                <a:cs typeface="Cambria"/>
                <a:sym typeface="Cambria"/>
              </a:rPr>
              <a:t>7</a:t>
            </a:r>
            <a:endParaRPr b="0" i="0" sz="2600" u="none" cap="none" strike="noStrike">
              <a:solidFill>
                <a:schemeClr val="dk1"/>
              </a:solidFill>
              <a:latin typeface="Calibri"/>
              <a:ea typeface="Calibri"/>
              <a:cs typeface="Calibri"/>
              <a:sym typeface="Calibri"/>
            </a:endParaRPr>
          </a:p>
        </p:txBody>
      </p:sp>
      <p:sp>
        <p:nvSpPr>
          <p:cNvPr id="278" name="Google Shape;278;p24"/>
          <p:cNvSpPr/>
          <p:nvPr/>
        </p:nvSpPr>
        <p:spPr>
          <a:xfrm>
            <a:off x="1200150" y="377190"/>
            <a:ext cx="753008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2300"/>
              <a:buFont typeface="Cambria"/>
              <a:buNone/>
            </a:pPr>
            <a:r>
              <a:rPr b="1" i="0" lang="id" sz="2300" u="none" cap="none" strike="noStrike">
                <a:solidFill>
                  <a:srgbClr val="7A1220"/>
                </a:solidFill>
                <a:latin typeface="Cambria"/>
                <a:ea typeface="Cambria"/>
                <a:cs typeface="Cambria"/>
                <a:sym typeface="Cambria"/>
              </a:rPr>
              <a:t>Conclusion + Challenges</a:t>
            </a:r>
            <a:endParaRPr b="0" i="0" sz="2300" u="none" cap="none" strike="noStrike">
              <a:solidFill>
                <a:schemeClr val="dk1"/>
              </a:solidFill>
              <a:latin typeface="Calibri"/>
              <a:ea typeface="Calibri"/>
              <a:cs typeface="Calibri"/>
              <a:sym typeface="Calibri"/>
            </a:endParaRPr>
          </a:p>
        </p:txBody>
      </p:sp>
      <p:sp>
        <p:nvSpPr>
          <p:cNvPr id="279" name="Google Shape;279;p24"/>
          <p:cNvSpPr/>
          <p:nvPr/>
        </p:nvSpPr>
        <p:spPr>
          <a:xfrm>
            <a:off x="411480" y="1200150"/>
            <a:ext cx="8318754" cy="1165860"/>
          </a:xfrm>
          <a:prstGeom prst="roundRect">
            <a:avLst>
              <a:gd fmla="val 3529" name="adj"/>
            </a:avLst>
          </a:prstGeom>
          <a:solidFill>
            <a:srgbClr val="F7EBEE"/>
          </a:solidFill>
          <a:ln cap="flat" cmpd="sng" w="12700">
            <a:solidFill>
              <a:srgbClr val="E9CE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0" name="Google Shape;280;p24"/>
          <p:cNvSpPr/>
          <p:nvPr/>
        </p:nvSpPr>
        <p:spPr>
          <a:xfrm>
            <a:off x="582930" y="1309878"/>
            <a:ext cx="797585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800"/>
              <a:buFont typeface="Calibri"/>
              <a:buNone/>
            </a:pPr>
            <a:r>
              <a:rPr b="1" i="0" lang="id" sz="800" u="none" cap="none" strike="noStrike">
                <a:solidFill>
                  <a:srgbClr val="7A1220"/>
                </a:solidFill>
                <a:latin typeface="Calibri"/>
                <a:ea typeface="Calibri"/>
                <a:cs typeface="Calibri"/>
                <a:sym typeface="Calibri"/>
              </a:rPr>
              <a:t>PANDUAN — isi bagian ini</a:t>
            </a:r>
            <a:endParaRPr b="0" i="0" sz="800" u="none" cap="none" strike="noStrike">
              <a:solidFill>
                <a:schemeClr val="dk1"/>
              </a:solidFill>
              <a:latin typeface="Calibri"/>
              <a:ea typeface="Calibri"/>
              <a:cs typeface="Calibri"/>
              <a:sym typeface="Calibri"/>
            </a:endParaRPr>
          </a:p>
        </p:txBody>
      </p:sp>
      <p:sp>
        <p:nvSpPr>
          <p:cNvPr id="281" name="Google Shape;281;p24"/>
          <p:cNvSpPr/>
          <p:nvPr/>
        </p:nvSpPr>
        <p:spPr>
          <a:xfrm>
            <a:off x="582930" y="1556766"/>
            <a:ext cx="7975854" cy="6720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Apa yang berhasil, apa yang tidak, apa yang akan Anda lakukan berbeda jika punya lebih banyak waktu, serta isu terbuka untuk intern berikutnya pada topik ini. Satu paragraf, langsung ke inti.</a:t>
            </a:r>
            <a:endParaRPr b="0" i="0" sz="1000" u="none" cap="none" strike="noStrike">
              <a:solidFill>
                <a:schemeClr val="dk1"/>
              </a:solidFill>
              <a:latin typeface="Calibri"/>
              <a:ea typeface="Calibri"/>
              <a:cs typeface="Calibri"/>
              <a:sym typeface="Calibri"/>
            </a:endParaRPr>
          </a:p>
        </p:txBody>
      </p:sp>
      <p:sp>
        <p:nvSpPr>
          <p:cNvPr id="282" name="Google Shape;282;p24"/>
          <p:cNvSpPr/>
          <p:nvPr/>
        </p:nvSpPr>
        <p:spPr>
          <a:xfrm>
            <a:off x="411480" y="2571750"/>
            <a:ext cx="2635758" cy="1714500"/>
          </a:xfrm>
          <a:prstGeom prst="roundRect">
            <a:avLst>
              <a:gd fmla="val 3200" name="adj"/>
            </a:avLst>
          </a:prstGeom>
          <a:solidFill>
            <a:srgbClr val="FBF4F6"/>
          </a:solidFill>
          <a:ln cap="flat" cmpd="sng" w="12700">
            <a:solidFill>
              <a:srgbClr val="EAD3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3" name="Google Shape;283;p24"/>
          <p:cNvSpPr/>
          <p:nvPr/>
        </p:nvSpPr>
        <p:spPr>
          <a:xfrm>
            <a:off x="651510" y="2811780"/>
            <a:ext cx="342900" cy="342900"/>
          </a:xfrm>
          <a:prstGeom prst="ellipse">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4" name="Google Shape;284;p24"/>
          <p:cNvSpPr/>
          <p:nvPr/>
        </p:nvSpPr>
        <p:spPr>
          <a:xfrm>
            <a:off x="651510" y="2811780"/>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mbria"/>
              <a:buNone/>
            </a:pPr>
            <a:r>
              <a:rPr b="1" i="0" lang="id" sz="1400" u="none" cap="none" strike="noStrike">
                <a:solidFill>
                  <a:srgbClr val="FFFFFF"/>
                </a:solidFill>
                <a:latin typeface="Cambria"/>
                <a:ea typeface="Cambria"/>
                <a:cs typeface="Cambria"/>
                <a:sym typeface="Cambria"/>
              </a:rPr>
              <a:t>1</a:t>
            </a:r>
            <a:endParaRPr b="0" i="0" sz="1400" u="none" cap="none" strike="noStrike">
              <a:solidFill>
                <a:schemeClr val="dk1"/>
              </a:solidFill>
              <a:latin typeface="Calibri"/>
              <a:ea typeface="Calibri"/>
              <a:cs typeface="Calibri"/>
              <a:sym typeface="Calibri"/>
            </a:endParaRPr>
          </a:p>
        </p:txBody>
      </p:sp>
      <p:sp>
        <p:nvSpPr>
          <p:cNvPr id="285" name="Google Shape;285;p24"/>
          <p:cNvSpPr/>
          <p:nvPr/>
        </p:nvSpPr>
        <p:spPr>
          <a:xfrm>
            <a:off x="651510" y="3291840"/>
            <a:ext cx="2155698"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1300"/>
              <a:buFont typeface="Cambria"/>
              <a:buNone/>
            </a:pPr>
            <a:r>
              <a:rPr b="1" i="0" lang="id" sz="1300" u="none" cap="none" strike="noStrike">
                <a:solidFill>
                  <a:srgbClr val="7A1220"/>
                </a:solidFill>
                <a:latin typeface="Cambria"/>
                <a:ea typeface="Cambria"/>
                <a:cs typeface="Cambria"/>
                <a:sym typeface="Cambria"/>
              </a:rPr>
              <a:t>Berhasil</a:t>
            </a:r>
            <a:endParaRPr b="0" i="0" sz="1300" u="none" cap="none" strike="noStrike">
              <a:solidFill>
                <a:schemeClr val="dk1"/>
              </a:solidFill>
              <a:latin typeface="Calibri"/>
              <a:ea typeface="Calibri"/>
              <a:cs typeface="Calibri"/>
              <a:sym typeface="Calibri"/>
            </a:endParaRPr>
          </a:p>
        </p:txBody>
      </p:sp>
      <p:sp>
        <p:nvSpPr>
          <p:cNvPr id="286" name="Google Shape;286;p24"/>
          <p:cNvSpPr/>
          <p:nvPr/>
        </p:nvSpPr>
        <p:spPr>
          <a:xfrm>
            <a:off x="651510" y="3634740"/>
            <a:ext cx="2155698"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Apa yang bekerja dengan baik</a:t>
            </a:r>
            <a:endParaRPr b="0" i="0" sz="1000" u="none" cap="none" strike="noStrike">
              <a:solidFill>
                <a:schemeClr val="dk1"/>
              </a:solidFill>
              <a:latin typeface="Calibri"/>
              <a:ea typeface="Calibri"/>
              <a:cs typeface="Calibri"/>
              <a:sym typeface="Calibri"/>
            </a:endParaRPr>
          </a:p>
        </p:txBody>
      </p:sp>
      <p:sp>
        <p:nvSpPr>
          <p:cNvPr id="287" name="Google Shape;287;p24"/>
          <p:cNvSpPr/>
          <p:nvPr/>
        </p:nvSpPr>
        <p:spPr>
          <a:xfrm>
            <a:off x="3252978" y="2571750"/>
            <a:ext cx="2635758" cy="1714500"/>
          </a:xfrm>
          <a:prstGeom prst="roundRect">
            <a:avLst>
              <a:gd fmla="val 3200" name="adj"/>
            </a:avLst>
          </a:prstGeom>
          <a:solidFill>
            <a:srgbClr val="FBF4F6"/>
          </a:solidFill>
          <a:ln cap="flat" cmpd="sng" w="12700">
            <a:solidFill>
              <a:srgbClr val="EAD3D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8" name="Google Shape;288;p24"/>
          <p:cNvSpPr/>
          <p:nvPr/>
        </p:nvSpPr>
        <p:spPr>
          <a:xfrm>
            <a:off x="3493008" y="2811780"/>
            <a:ext cx="342900" cy="342900"/>
          </a:xfrm>
          <a:prstGeom prst="ellipse">
            <a:avLst/>
          </a:prstGeom>
          <a:solidFill>
            <a:srgbClr val="7A122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9" name="Google Shape;289;p24"/>
          <p:cNvSpPr/>
          <p:nvPr/>
        </p:nvSpPr>
        <p:spPr>
          <a:xfrm>
            <a:off x="3493008" y="2811780"/>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mbria"/>
              <a:buNone/>
            </a:pPr>
            <a:r>
              <a:rPr b="1" i="0" lang="id" sz="1400" u="none" cap="none" strike="noStrike">
                <a:solidFill>
                  <a:srgbClr val="FFFFFF"/>
                </a:solidFill>
                <a:latin typeface="Cambria"/>
                <a:ea typeface="Cambria"/>
                <a:cs typeface="Cambria"/>
                <a:sym typeface="Cambria"/>
              </a:rPr>
              <a:t>2</a:t>
            </a:r>
            <a:endParaRPr b="0" i="0" sz="1400" u="none" cap="none" strike="noStrike">
              <a:solidFill>
                <a:schemeClr val="dk1"/>
              </a:solidFill>
              <a:latin typeface="Calibri"/>
              <a:ea typeface="Calibri"/>
              <a:cs typeface="Calibri"/>
              <a:sym typeface="Calibri"/>
            </a:endParaRPr>
          </a:p>
        </p:txBody>
      </p:sp>
      <p:sp>
        <p:nvSpPr>
          <p:cNvPr id="290" name="Google Shape;290;p24"/>
          <p:cNvSpPr/>
          <p:nvPr/>
        </p:nvSpPr>
        <p:spPr>
          <a:xfrm>
            <a:off x="3493008" y="3291840"/>
            <a:ext cx="2155698"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1220"/>
              </a:buClr>
              <a:buSzPts val="1300"/>
              <a:buFont typeface="Cambria"/>
              <a:buNone/>
            </a:pPr>
            <a:r>
              <a:rPr b="1" i="0" lang="id" sz="1300" u="none" cap="none" strike="noStrike">
                <a:solidFill>
                  <a:srgbClr val="7A1220"/>
                </a:solidFill>
                <a:latin typeface="Cambria"/>
                <a:ea typeface="Cambria"/>
                <a:cs typeface="Cambria"/>
                <a:sym typeface="Cambria"/>
              </a:rPr>
              <a:t>Kendala</a:t>
            </a:r>
            <a:endParaRPr b="0" i="0" sz="1300" u="none" cap="none" strike="noStrike">
              <a:solidFill>
                <a:schemeClr val="dk1"/>
              </a:solidFill>
              <a:latin typeface="Calibri"/>
              <a:ea typeface="Calibri"/>
              <a:cs typeface="Calibri"/>
              <a:sym typeface="Calibri"/>
            </a:endParaRPr>
          </a:p>
        </p:txBody>
      </p:sp>
      <p:sp>
        <p:nvSpPr>
          <p:cNvPr id="291" name="Google Shape;291;p24"/>
          <p:cNvSpPr/>
          <p:nvPr/>
        </p:nvSpPr>
        <p:spPr>
          <a:xfrm>
            <a:off x="3493008" y="3634740"/>
            <a:ext cx="2155698"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A6A70"/>
              </a:buClr>
              <a:buSzPts val="1000"/>
              <a:buFont typeface="Calibri"/>
              <a:buNone/>
            </a:pPr>
            <a:r>
              <a:rPr b="0" i="1" lang="id" sz="1000" u="none" cap="none" strike="noStrike">
                <a:solidFill>
                  <a:srgbClr val="8A6A70"/>
                </a:solidFill>
                <a:latin typeface="Calibri"/>
                <a:ea typeface="Calibri"/>
                <a:cs typeface="Calibri"/>
                <a:sym typeface="Calibri"/>
              </a:rPr>
              <a:t>Apa yang tidak &amp; mengapa</a:t>
            </a:r>
            <a:endParaRPr b="0" i="0" sz="1000" u="none" cap="none" strike="noStrike">
              <a:solidFill>
                <a:schemeClr val="dk1"/>
              </a:solidFill>
              <a:latin typeface="Calibri"/>
              <a:ea typeface="Calibri"/>
              <a:cs typeface="Calibri"/>
              <a:sym typeface="Calibri"/>
            </a:endParaRPr>
          </a:p>
        </p:txBody>
      </p:sp>
      <p:sp>
        <p:nvSpPr>
          <p:cNvPr id="292" name="Google Shape;292;p24"/>
          <p:cNvSpPr/>
          <p:nvPr/>
        </p:nvSpPr>
        <p:spPr>
          <a:xfrm>
            <a:off x="6094476" y="2571750"/>
            <a:ext cx="2635758" cy="1714500"/>
          </a:xfrm>
          <a:prstGeom prst="roundRect">
            <a:avLst>
              <a:gd fmla="val 3200" name="adj"/>
            </a:avLst>
          </a:prstGeom>
          <a:solidFill>
            <a:srgbClr val="7A1220"/>
          </a:solidFill>
          <a:ln cap="flat" cmpd="sng" w="12700">
            <a:solidFill>
              <a:srgbClr val="7A122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3" name="Google Shape;293;p24"/>
          <p:cNvSpPr/>
          <p:nvPr/>
        </p:nvSpPr>
        <p:spPr>
          <a:xfrm>
            <a:off x="6334506" y="2811780"/>
            <a:ext cx="342900" cy="342900"/>
          </a:xfrm>
          <a:prstGeom prst="ellipse">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4" name="Google Shape;294;p24"/>
          <p:cNvSpPr/>
          <p:nvPr/>
        </p:nvSpPr>
        <p:spPr>
          <a:xfrm>
            <a:off x="6334506" y="2811780"/>
            <a:ext cx="342900" cy="34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1220"/>
              </a:buClr>
              <a:buSzPts val="1400"/>
              <a:buFont typeface="Cambria"/>
              <a:buNone/>
            </a:pPr>
            <a:r>
              <a:rPr b="1" i="0" lang="id" sz="1400" u="none" cap="none" strike="noStrike">
                <a:solidFill>
                  <a:srgbClr val="7A1220"/>
                </a:solidFill>
                <a:latin typeface="Cambria"/>
                <a:ea typeface="Cambria"/>
                <a:cs typeface="Cambria"/>
                <a:sym typeface="Cambria"/>
              </a:rPr>
              <a:t>3</a:t>
            </a:r>
            <a:endParaRPr b="0" i="0" sz="1400" u="none" cap="none" strike="noStrike">
              <a:solidFill>
                <a:schemeClr val="dk1"/>
              </a:solidFill>
              <a:latin typeface="Calibri"/>
              <a:ea typeface="Calibri"/>
              <a:cs typeface="Calibri"/>
              <a:sym typeface="Calibri"/>
            </a:endParaRPr>
          </a:p>
        </p:txBody>
      </p:sp>
      <p:sp>
        <p:nvSpPr>
          <p:cNvPr id="295" name="Google Shape;295;p24"/>
          <p:cNvSpPr/>
          <p:nvPr/>
        </p:nvSpPr>
        <p:spPr>
          <a:xfrm>
            <a:off x="6334506" y="3291840"/>
            <a:ext cx="2155698"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mbria"/>
              <a:buNone/>
            </a:pPr>
            <a:r>
              <a:rPr b="1" i="0" lang="id" sz="1300" u="none" cap="none" strike="noStrike">
                <a:solidFill>
                  <a:srgbClr val="FFFFFF"/>
                </a:solidFill>
                <a:latin typeface="Cambria"/>
                <a:ea typeface="Cambria"/>
                <a:cs typeface="Cambria"/>
                <a:sym typeface="Cambria"/>
              </a:rPr>
              <a:t>Untuk intern berikutnya</a:t>
            </a:r>
            <a:endParaRPr b="0" i="0" sz="1300" u="none" cap="none" strike="noStrike">
              <a:solidFill>
                <a:schemeClr val="dk1"/>
              </a:solidFill>
              <a:latin typeface="Calibri"/>
              <a:ea typeface="Calibri"/>
              <a:cs typeface="Calibri"/>
              <a:sym typeface="Calibri"/>
            </a:endParaRPr>
          </a:p>
        </p:txBody>
      </p:sp>
      <p:sp>
        <p:nvSpPr>
          <p:cNvPr id="296" name="Google Shape;296;p24"/>
          <p:cNvSpPr/>
          <p:nvPr/>
        </p:nvSpPr>
        <p:spPr>
          <a:xfrm>
            <a:off x="6334506" y="3634740"/>
            <a:ext cx="2155698"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0CDD5"/>
              </a:buClr>
              <a:buSzPts val="1000"/>
              <a:buFont typeface="Calibri"/>
              <a:buNone/>
            </a:pPr>
            <a:r>
              <a:rPr b="0" i="1" lang="id" sz="1000" u="none" cap="none" strike="noStrike">
                <a:solidFill>
                  <a:srgbClr val="F0CDD5"/>
                </a:solidFill>
                <a:latin typeface="Calibri"/>
                <a:ea typeface="Calibri"/>
                <a:cs typeface="Calibri"/>
                <a:sym typeface="Calibri"/>
              </a:rPr>
              <a:t>Isu terbuka &amp; rekomendasi</a:t>
            </a:r>
            <a:endParaRPr b="0" i="0" sz="1000" u="none" cap="none" strike="noStrike">
              <a:solidFill>
                <a:schemeClr val="dk1"/>
              </a:solidFill>
              <a:latin typeface="Calibri"/>
              <a:ea typeface="Calibri"/>
              <a:cs typeface="Calibri"/>
              <a:sym typeface="Calibri"/>
            </a:endParaRPr>
          </a:p>
        </p:txBody>
      </p:sp>
      <p:sp>
        <p:nvSpPr>
          <p:cNvPr id="297" name="Google Shape;297;p24"/>
          <p:cNvSpPr/>
          <p:nvPr/>
        </p:nvSpPr>
        <p:spPr>
          <a:xfrm>
            <a:off x="411480" y="4814316"/>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ICDeC — Final Report Template</a:t>
            </a:r>
            <a:endParaRPr b="0" i="0" sz="700" u="none" cap="none" strike="noStrike">
              <a:solidFill>
                <a:schemeClr val="dk1"/>
              </a:solidFill>
              <a:latin typeface="Calibri"/>
              <a:ea typeface="Calibri"/>
              <a:cs typeface="Calibri"/>
              <a:sym typeface="Calibri"/>
            </a:endParaRPr>
          </a:p>
        </p:txBody>
      </p:sp>
      <p:sp>
        <p:nvSpPr>
          <p:cNvPr id="298" name="Google Shape;298;p24"/>
          <p:cNvSpPr/>
          <p:nvPr/>
        </p:nvSpPr>
        <p:spPr>
          <a:xfrm>
            <a:off x="8044434" y="4814316"/>
            <a:ext cx="6858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A6A70"/>
              </a:buClr>
              <a:buSzPts val="700"/>
              <a:buFont typeface="Calibri"/>
              <a:buNone/>
            </a:pPr>
            <a:r>
              <a:rPr b="0" i="0" lang="id" sz="700" u="none" cap="none" strike="noStrike">
                <a:solidFill>
                  <a:srgbClr val="8A6A70"/>
                </a:solidFill>
                <a:latin typeface="Calibri"/>
                <a:ea typeface="Calibri"/>
                <a:cs typeface="Calibri"/>
                <a:sym typeface="Calibri"/>
              </a:rPr>
              <a:t>10</a:t>
            </a:r>
            <a:endParaRPr b="0" i="0" sz="700" u="none" cap="none" strike="noStrike">
              <a:solidFill>
                <a:schemeClr val="dk1"/>
              </a:solidFill>
              <a:latin typeface="Calibri"/>
              <a:ea typeface="Calibri"/>
              <a:cs typeface="Calibri"/>
              <a:sym typeface="Calibri"/>
            </a:endParaRPr>
          </a:p>
        </p:txBody>
      </p:sp>
      <p:pic>
        <p:nvPicPr>
          <p:cNvPr id="299" name="Google Shape;299;p24"/>
          <p:cNvPicPr preferRelativeResize="0"/>
          <p:nvPr/>
        </p:nvPicPr>
        <p:blipFill>
          <a:blip r:embed="rId3">
            <a:alphaModFix/>
          </a:blip>
          <a:stretch>
            <a:fillRect/>
          </a:stretch>
        </p:blipFill>
        <p:spPr>
          <a:xfrm>
            <a:off x="7980249" y="0"/>
            <a:ext cx="1163763" cy="10474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E0B15"/>
        </a:solidFill>
      </p:bgPr>
    </p:bg>
    <p:spTree>
      <p:nvGrpSpPr>
        <p:cNvPr id="304" name="Shape 304"/>
        <p:cNvGrpSpPr/>
        <p:nvPr/>
      </p:nvGrpSpPr>
      <p:grpSpPr>
        <a:xfrm>
          <a:off x="0" y="0"/>
          <a:ext cx="0" cy="0"/>
          <a:chOff x="0" y="0"/>
          <a:chExt cx="0" cy="0"/>
        </a:xfrm>
      </p:grpSpPr>
      <p:sp>
        <p:nvSpPr>
          <p:cNvPr id="305" name="Google Shape;305;p25"/>
          <p:cNvSpPr/>
          <p:nvPr/>
        </p:nvSpPr>
        <p:spPr>
          <a:xfrm>
            <a:off x="0" y="1851660"/>
            <a:ext cx="9141714"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3900"/>
              <a:buFont typeface="Cambria"/>
              <a:buNone/>
            </a:pPr>
            <a:r>
              <a:rPr b="1" i="0" lang="id" sz="3900" u="none" cap="none" strike="noStrike">
                <a:solidFill>
                  <a:srgbClr val="FFFFFF"/>
                </a:solidFill>
                <a:latin typeface="Cambria"/>
                <a:ea typeface="Cambria"/>
                <a:cs typeface="Cambria"/>
                <a:sym typeface="Cambria"/>
              </a:rPr>
              <a:t>Terima Kasih</a:t>
            </a:r>
            <a:endParaRPr b="0" i="0" sz="3900" u="none" cap="none" strike="noStrike">
              <a:solidFill>
                <a:schemeClr val="dk1"/>
              </a:solidFill>
              <a:latin typeface="Calibri"/>
              <a:ea typeface="Calibri"/>
              <a:cs typeface="Calibri"/>
              <a:sym typeface="Calibri"/>
            </a:endParaRPr>
          </a:p>
        </p:txBody>
      </p:sp>
      <p:sp>
        <p:nvSpPr>
          <p:cNvPr id="306" name="Google Shape;306;p25"/>
          <p:cNvSpPr/>
          <p:nvPr/>
        </p:nvSpPr>
        <p:spPr>
          <a:xfrm>
            <a:off x="0" y="2606040"/>
            <a:ext cx="9141714"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E7C9D0"/>
              </a:buClr>
              <a:buSzPts val="1500"/>
              <a:buFont typeface="Calibri"/>
              <a:buNone/>
            </a:pPr>
            <a:r>
              <a:rPr b="0" i="1" lang="id" sz="1500" u="none" cap="none" strike="noStrike">
                <a:solidFill>
                  <a:srgbClr val="E7C9D0"/>
                </a:solidFill>
                <a:latin typeface="Calibri"/>
                <a:ea typeface="Calibri"/>
                <a:cs typeface="Calibri"/>
                <a:sym typeface="Calibri"/>
              </a:rPr>
              <a:t>Pertanyaan &amp; diskusi</a:t>
            </a:r>
            <a:endParaRPr b="0" i="0" sz="1500" u="none" cap="none" strike="noStrike">
              <a:solidFill>
                <a:schemeClr val="dk1"/>
              </a:solidFill>
              <a:latin typeface="Calibri"/>
              <a:ea typeface="Calibri"/>
              <a:cs typeface="Calibri"/>
              <a:sym typeface="Calibri"/>
            </a:endParaRPr>
          </a:p>
        </p:txBody>
      </p:sp>
      <p:sp>
        <p:nvSpPr>
          <p:cNvPr id="307" name="Google Shape;307;p25"/>
          <p:cNvSpPr/>
          <p:nvPr/>
        </p:nvSpPr>
        <p:spPr>
          <a:xfrm>
            <a:off x="0" y="4594860"/>
            <a:ext cx="9141714"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B0304A"/>
              </a:buClr>
              <a:buSzPts val="900"/>
              <a:buFont typeface="Calibri"/>
              <a:buNone/>
            </a:pPr>
            <a:r>
              <a:rPr b="0" i="0" lang="id" sz="900" u="none" cap="none" strike="noStrike">
                <a:solidFill>
                  <a:srgbClr val="B0304A"/>
                </a:solidFill>
                <a:latin typeface="Calibri"/>
                <a:ea typeface="Calibri"/>
                <a:cs typeface="Calibri"/>
                <a:sym typeface="Calibri"/>
              </a:rPr>
              <a:t>ICDeC — Final Report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