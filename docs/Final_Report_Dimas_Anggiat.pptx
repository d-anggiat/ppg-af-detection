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3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4671C9-3D53-4846-A014-A546F69AEF62}">
  <a:tblStyle styleId="{BD4671C9-3D53-4846-A014-A546F69AEF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706cf14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9706cf146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9706cf146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9706cf146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f9706cf146_2_4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f9706cf146_2_4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706cf146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f9706cf146_2_6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9706cf146_2_6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706cf146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f9706cf146_2_8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f9706cf146_2_8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06cf14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9706cf146_2_1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f9706cf146_2_1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706cf146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f9706cf146_2_14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f9706cf146_2_14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706cf146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f9706cf146_2_17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9706cf146_2_17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9706cf146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f9706cf146_2_18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f9706cf146_2_18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706cf146_2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f9706cf146_2_21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f9706cf146_2_21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706cf146_2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f9706cf146_2_23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f9706cf146_2_23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0B15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216027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id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FINAL REPORT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2880360"/>
            <a:ext cx="91417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C9D0"/>
              </a:buClr>
              <a:buSzPts val="1500"/>
              <a:buFont typeface="Calibri"/>
              <a:buNone/>
            </a:pPr>
            <a:r>
              <a:rPr lang="id" sz="1500" b="0" i="1" u="none" strike="noStrike" cap="none">
                <a:solidFill>
                  <a:srgbClr val="E7C9D0"/>
                </a:solidFill>
                <a:latin typeface="Calibri"/>
                <a:ea typeface="Calibri"/>
                <a:cs typeface="Calibri"/>
                <a:sym typeface="Calibri"/>
              </a:rPr>
              <a:t>Template Laporan Akhir Magang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28700" y="3669030"/>
            <a:ext cx="1851660" cy="754380"/>
          </a:xfrm>
          <a:prstGeom prst="roundRect">
            <a:avLst>
              <a:gd name="adj" fmla="val 5455"/>
            </a:avLst>
          </a:prstGeom>
          <a:solidFill>
            <a:srgbClr val="5E101C"/>
          </a:solidFill>
          <a:ln w="12700" cap="flat" cmpd="sng">
            <a:solidFill>
              <a:srgbClr val="B0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1165860" y="3778758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B0304A"/>
                </a:solidFill>
                <a:latin typeface="Calibri"/>
                <a:ea typeface="Calibri"/>
                <a:cs typeface="Calibri"/>
                <a:sym typeface="Calibri"/>
              </a:rPr>
              <a:t>NAMA MAGANG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165860" y="401193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Dimas Anggiat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983230" y="3669030"/>
            <a:ext cx="1851660" cy="754380"/>
          </a:xfrm>
          <a:prstGeom prst="roundRect">
            <a:avLst>
              <a:gd name="adj" fmla="val 5455"/>
            </a:avLst>
          </a:prstGeom>
          <a:solidFill>
            <a:srgbClr val="5E101C"/>
          </a:solidFill>
          <a:ln w="12700" cap="flat" cmpd="sng">
            <a:solidFill>
              <a:srgbClr val="B0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120390" y="3778758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B0304A"/>
                </a:solidFill>
                <a:latin typeface="Calibri"/>
                <a:ea typeface="Calibri"/>
                <a:cs typeface="Calibri"/>
                <a:sym typeface="Calibri"/>
              </a:rPr>
              <a:t>TOPIK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120390" y="401193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 Edge AI Wearable – Arrhythmia Atrial Fibrillation Detection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937760" y="3669030"/>
            <a:ext cx="1851660" cy="754380"/>
          </a:xfrm>
          <a:prstGeom prst="roundRect">
            <a:avLst>
              <a:gd name="adj" fmla="val 5455"/>
            </a:avLst>
          </a:prstGeom>
          <a:solidFill>
            <a:srgbClr val="5E101C"/>
          </a:solidFill>
          <a:ln w="12700" cap="flat" cmpd="sng">
            <a:solidFill>
              <a:srgbClr val="B0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074920" y="3778758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B0304A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074920" y="401193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Faudzan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892290" y="3669030"/>
            <a:ext cx="1851660" cy="754380"/>
          </a:xfrm>
          <a:prstGeom prst="roundRect">
            <a:avLst>
              <a:gd name="adj" fmla="val 5455"/>
            </a:avLst>
          </a:prstGeom>
          <a:solidFill>
            <a:srgbClr val="5E101C"/>
          </a:solidFill>
          <a:ln w="12700" cap="flat" cmpd="sng">
            <a:solidFill>
              <a:srgbClr val="B0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029450" y="3778758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B0304A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7029450" y="401193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028700" y="4526280"/>
            <a:ext cx="7543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C9D0"/>
              </a:buClr>
              <a:buSzPts val="900"/>
              <a:buFont typeface="Calibri"/>
              <a:buNone/>
            </a:pPr>
            <a:r>
              <a:rPr lang="id" sz="900" b="0" i="1" u="none" strike="noStrike" cap="none">
                <a:solidFill>
                  <a:srgbClr val="E7C9D0"/>
                </a:solidFill>
                <a:latin typeface="Calibri"/>
                <a:ea typeface="Calibri"/>
                <a:cs typeface="Calibri"/>
                <a:sym typeface="Calibri"/>
              </a:rPr>
              <a:t>Target Hardware:  Grove Vision AI V2 (Cortex-M55 + Ethos-U55)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783300" y="538625"/>
            <a:ext cx="1577400" cy="1387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986" y="564764"/>
            <a:ext cx="1483749" cy="133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Overview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11480" y="1200150"/>
            <a:ext cx="8318754" cy="1165860"/>
          </a:xfrm>
          <a:prstGeom prst="roundRect">
            <a:avLst>
              <a:gd name="adj" fmla="val 3529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582930" y="130987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82930" y="1556766"/>
            <a:ext cx="7975854" cy="67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Sistem deteksi Atrial Fibrilasi (AF) real-time berbasis sinyal PPG dari MAX30102, dijalankan sepenuhnya on-device di Grove Vision AI V2 (Cortex-M55 + Ethos-U55 NPU). Firmware C memproses sinyal mentah, lalu model 1D-CNN INT8 dieksekusi penuh di NPU untuk menekan latensi &amp; daya pada wearable.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11480" y="2571750"/>
            <a:ext cx="2635758" cy="1645920"/>
          </a:xfrm>
          <a:prstGeom prst="roundRect">
            <a:avLst>
              <a:gd name="adj" fmla="val 3333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51510" y="2811780"/>
            <a:ext cx="377190" cy="377190"/>
          </a:xfrm>
          <a:prstGeom prst="ellipse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51510" y="281178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id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51510" y="3326130"/>
            <a:ext cx="2155698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000"/>
              <a:buFont typeface="Calibri"/>
              <a:buNone/>
            </a:pPr>
            <a:r>
              <a:rPr lang="id" sz="10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TUJUAN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51510" y="360045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Deteksi AF real-time berbasis PPG, inferensi penuh di NPU untuk latensi &amp; daya rendah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252978" y="2571750"/>
            <a:ext cx="2635758" cy="1645920"/>
          </a:xfrm>
          <a:prstGeom prst="roundRect">
            <a:avLst>
              <a:gd name="adj" fmla="val 3333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493008" y="2811780"/>
            <a:ext cx="377190" cy="377190"/>
          </a:xfrm>
          <a:prstGeom prst="ellipse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493008" y="281178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id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493008" y="3326130"/>
            <a:ext cx="2155698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000"/>
              <a:buFont typeface="Calibri"/>
              <a:buNone/>
            </a:pPr>
            <a:r>
              <a:rPr lang="id" sz="10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493008" y="360045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MAX30102 (PPG, LED </a:t>
            </a:r>
            <a:r>
              <a:rPr lang="en-US" sz="1000" i="1" dirty="0" err="1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merah</a:t>
            </a: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094476" y="2571750"/>
            <a:ext cx="2635758" cy="1645920"/>
          </a:xfrm>
          <a:prstGeom prst="roundRect">
            <a:avLst>
              <a:gd name="adj" fmla="val 3333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334506" y="2811780"/>
            <a:ext cx="377190" cy="377190"/>
          </a:xfrm>
          <a:prstGeom prst="ellipse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334506" y="281178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id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334506" y="3326130"/>
            <a:ext cx="2155698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000"/>
              <a:buFont typeface="Calibri"/>
              <a:buNone/>
            </a:pPr>
            <a:r>
              <a:rPr lang="id" sz="10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TARGET HW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334506" y="360045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Grove Vision AI V2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Background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11480" y="1200150"/>
            <a:ext cx="8318754" cy="1371600"/>
          </a:xfrm>
          <a:prstGeom prst="roundRect">
            <a:avLst>
              <a:gd name="adj" fmla="val 3000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82930" y="130987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82930" y="1556766"/>
            <a:ext cx="7975854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ECG (Holter/patch) adalah gold standard, tapi tidak praktis untuk pemantauan jangka panjang — elektroda memicu iritasi dan biaya mahal. PPG optik pada wearable jadi alternatif non-invasif yang lebih ekonomis, namun pemrosesan kontinu di perangkat kecil menuntut inferensi AI dijalankan on-device (bukan di CPU) agar baterai tidak boros dan panas tidak berlebih.</a:t>
            </a:r>
            <a:endParaRPr sz="1000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11480" y="2846070"/>
            <a:ext cx="2635758" cy="1474470"/>
          </a:xfrm>
          <a:prstGeom prst="roundRect">
            <a:avLst>
              <a:gd name="adj" fmla="val 3721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17220" y="3051810"/>
            <a:ext cx="2224278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200"/>
              <a:buFont typeface="Cambria"/>
              <a:buNone/>
            </a:pPr>
            <a:r>
              <a:rPr lang="id" sz="12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Mengapa penting?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17220" y="3566160"/>
            <a:ext cx="2224278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AF pemicu utama stroke iskemik; episode paroxysmal, sering tanpa gejala, sulit terekam perekaman singkat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3252978" y="2846070"/>
            <a:ext cx="2635758" cy="1474470"/>
          </a:xfrm>
          <a:prstGeom prst="roundRect">
            <a:avLst>
              <a:gd name="adj" fmla="val 3721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3458718" y="3051810"/>
            <a:ext cx="2224278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200"/>
              <a:buFont typeface="Cambria"/>
              <a:buNone/>
            </a:pPr>
            <a:r>
              <a:rPr lang="id" sz="12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Metrik domain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458718" y="3566160"/>
            <a:ext cx="2224278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Sensitivity tinggi agar episode AF tersembunyi tak terlewat; specificity tinggi agar false alarm ditekan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094476" y="2846070"/>
            <a:ext cx="2635758" cy="1474470"/>
          </a:xfrm>
          <a:prstGeom prst="roundRect">
            <a:avLst>
              <a:gd name="adj" fmla="val 3721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300216" y="3051810"/>
            <a:ext cx="2224278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200"/>
              <a:buFont typeface="Cambria"/>
              <a:buNone/>
            </a:pPr>
            <a:r>
              <a:rPr lang="id" sz="12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Benchmark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300216" y="3566160"/>
            <a:ext cx="2224278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Sensitivity &amp; specificity &gt; 90% (standar literatur)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 dirty="0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Dataset &amp; Preprocessing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11480" y="1165860"/>
            <a:ext cx="8318754" cy="1337310"/>
          </a:xfrm>
          <a:prstGeom prst="roundRect">
            <a:avLst>
              <a:gd name="adj" fmla="val 3077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82930" y="127558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82930" y="1522476"/>
            <a:ext cx="7975854" cy="84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PPG kontinu dipotong jadi window 10 detik (1000 sampel). Python: bandpass Butterworth orde-4 (0.5–8 Hz) + Z-score per window. On-device (firmware C): filter real-time + buffer circular 1000 sampel, lalu Z-score &amp; kuantisasi INT8 sebelum masuk NPU.</a:t>
            </a:r>
            <a:endParaRPr lang="en-US" sz="1000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endParaRPr lang="en-US" sz="1000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5000"/>
              </a:lnSpc>
              <a:buClr>
                <a:srgbClr val="404040"/>
              </a:buClr>
              <a:buSzPts val="1000"/>
            </a:pPr>
            <a:r>
              <a:rPr lang="id" sz="1000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Dataset Zenodo: ECG+PPG wrist-worn, 45 pasien suspect AF (PPG 100 Hz, ECG ref 500 Hz). Label biner/window 10s dari anotasi beat-to-beat; split GroupShuffleSplit per subjek; class imbalance via class weight + overlap 75% window AF. </a:t>
            </a:r>
            <a:endParaRPr sz="1000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11480" y="2640330"/>
            <a:ext cx="8318754" cy="92583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EFD8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82930" y="275005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82930" y="2996946"/>
            <a:ext cx="7975854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Filter direalisasikan sebagai 4 tahap biquad bandpass terkaskade (koefisien untuk fs 100 Hz), dijalankan sampel-per-sampel dari sensor MAX30102 sebelum disimpan ke circular buffer.</a:t>
            </a:r>
            <a:endParaRPr sz="1000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11480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9"/>
          <p:cNvSpPr/>
          <p:nvPr/>
        </p:nvSpPr>
        <p:spPr>
          <a:xfrm>
            <a:off x="445770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</a:t>
            </a:r>
            <a:r>
              <a:rPr lang="en-US" sz="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</a:p>
        </p:txBody>
      </p:sp>
      <p:sp>
        <p:nvSpPr>
          <p:cNvPr id="155" name="Google Shape;155;p19"/>
          <p:cNvSpPr/>
          <p:nvPr/>
        </p:nvSpPr>
        <p:spPr>
          <a:xfrm>
            <a:off x="1820799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9"/>
          <p:cNvSpPr/>
          <p:nvPr/>
        </p:nvSpPr>
        <p:spPr>
          <a:xfrm>
            <a:off x="1855089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Subjek</a:t>
            </a:r>
            <a:r>
              <a:rPr lang="en-US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7" name="Google Shape;157;p19"/>
          <p:cNvSpPr/>
          <p:nvPr/>
        </p:nvSpPr>
        <p:spPr>
          <a:xfrm>
            <a:off x="3230118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58" name="Google Shape;158;p19"/>
          <p:cNvSpPr/>
          <p:nvPr/>
        </p:nvSpPr>
        <p:spPr>
          <a:xfrm>
            <a:off x="3264408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Sampling rat</a:t>
            </a:r>
            <a:r>
              <a:rPr lang="en-US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</a:p>
        </p:txBody>
      </p:sp>
      <p:sp>
        <p:nvSpPr>
          <p:cNvPr id="159" name="Google Shape;159;p19"/>
          <p:cNvSpPr/>
          <p:nvPr/>
        </p:nvSpPr>
        <p:spPr>
          <a:xfrm>
            <a:off x="4639437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9"/>
          <p:cNvSpPr/>
          <p:nvPr/>
        </p:nvSpPr>
        <p:spPr>
          <a:xfrm>
            <a:off x="4673727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048756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19"/>
          <p:cNvSpPr/>
          <p:nvPr/>
        </p:nvSpPr>
        <p:spPr>
          <a:xfrm>
            <a:off x="6083046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458075" y="3771900"/>
            <a:ext cx="1272159" cy="582930"/>
          </a:xfrm>
          <a:prstGeom prst="roundRect">
            <a:avLst>
              <a:gd name="adj" fmla="val 7059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19"/>
          <p:cNvSpPr/>
          <p:nvPr/>
        </p:nvSpPr>
        <p:spPr>
          <a:xfrm>
            <a:off x="7492365" y="3771900"/>
            <a:ext cx="1203579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balance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Class weight + overlap 75% pada window kelas AF (training)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 dirty="0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Model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11480" y="1200150"/>
            <a:ext cx="4149090" cy="3017520"/>
          </a:xfrm>
          <a:prstGeom prst="roundRect">
            <a:avLst>
              <a:gd name="adj" fmla="val 1364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82930" y="1309878"/>
            <a:ext cx="38061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82930" y="1556766"/>
            <a:ext cx="3806190" cy="252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Arsitektur: Conv1D(64,k3,ReLU)+MaxPool2 → Conv1D(128,k3,ReLU)+MaxPool2 → Flatten → Dense(128,ReLU) → Dense(2,softmax)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• Jumlah parameter: 4.088.578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• Input shape: (1000, 1)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• Output: non-AF / AF (2 kelas)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766310" y="1200150"/>
            <a:ext cx="3963924" cy="3017520"/>
          </a:xfrm>
          <a:prstGeom prst="roundRect">
            <a:avLst>
              <a:gd name="adj" fmla="val 1818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4972050" y="1371600"/>
            <a:ext cx="35524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000"/>
              <a:buFont typeface="Calibri"/>
              <a:buNone/>
            </a:pPr>
            <a:r>
              <a:rPr lang="id" sz="10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SETUP TRAINING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985766" y="1789938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177790" y="170764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701534" y="170764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Adam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985766" y="2187702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177790" y="2105406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701534" y="210540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Sparse categorical crossentropy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985766" y="2585466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177790" y="2503170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546848" y="2517773"/>
            <a:ext cx="977646" cy="24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30 (EarlyStopping)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985766" y="2983230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177790" y="2900934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701534" y="290093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985766" y="3380994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177790" y="3298698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Hardware training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701534" y="329869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985766" y="3778758"/>
            <a:ext cx="96012" cy="96012"/>
          </a:xfrm>
          <a:prstGeom prst="ellipse">
            <a:avLst/>
          </a:prstGeom>
          <a:solidFill>
            <a:srgbClr val="B030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177790" y="369646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lang="id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Regularisasi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7321296" y="3696462"/>
            <a:ext cx="12031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100"/>
              <a:buFont typeface="Calibri"/>
              <a:buNone/>
            </a:pPr>
            <a:r>
              <a:rPr lang="id" sz="1100" b="0" i="0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Dropout 50%, EarlyStopping (p=5), ReduceLROnPlateau, class weight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11480" y="1200150"/>
            <a:ext cx="8318754" cy="1165860"/>
          </a:xfrm>
          <a:prstGeom prst="roundRect">
            <a:avLst>
              <a:gd name="adj" fmla="val 3529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82930" y="130987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2930" y="1556766"/>
            <a:ext cx="7975854" cy="67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Baseline (.keras): akurasi 69%, F1 AF 0.22 (precision 0.14, recall 0.57). Quantized (.tflite INT8): akurasi 68%, F1 AF 0.20 — penurunan tipis akibat kuantisasi INT8. Kendala utama: False Positive tinggi (~44rb) akibat rasio uji non-AF:AF ~12:1.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11480" y="2503170"/>
            <a:ext cx="8318754" cy="857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 cap="flat" cmpd="sng">
            <a:solidFill>
              <a:srgbClr val="EFD8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11480" y="3531870"/>
            <a:ext cx="2635758" cy="925830"/>
          </a:xfrm>
          <a:prstGeom prst="roundRect">
            <a:avLst>
              <a:gd name="adj" fmla="val 5926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617220" y="3655314"/>
            <a:ext cx="222427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id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68%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17220" y="4183380"/>
            <a:ext cx="2224278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DD5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0CDD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252978" y="3531870"/>
            <a:ext cx="2635758" cy="925830"/>
          </a:xfrm>
          <a:prstGeom prst="roundRect">
            <a:avLst>
              <a:gd name="adj" fmla="val 5926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3458718" y="3655314"/>
            <a:ext cx="222427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id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0.20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458718" y="4183380"/>
            <a:ext cx="2224278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DD5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0CDD5"/>
                </a:solidFill>
                <a:latin typeface="Calibri"/>
                <a:ea typeface="Calibri"/>
                <a:cs typeface="Calibri"/>
                <a:sym typeface="Calibri"/>
              </a:rPr>
              <a:t>F1 / METRIK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094476" y="3531870"/>
            <a:ext cx="2635758" cy="925830"/>
          </a:xfrm>
          <a:prstGeom prst="roundRect">
            <a:avLst>
              <a:gd name="adj" fmla="val 5926"/>
            </a:avLst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6300216" y="3655314"/>
            <a:ext cx="222427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id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-0.01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300216" y="4183380"/>
            <a:ext cx="2224278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DD5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F0CDD5"/>
                </a:solidFill>
                <a:latin typeface="Calibri"/>
                <a:ea typeface="Calibri"/>
                <a:cs typeface="Calibri"/>
                <a:sym typeface="Calibri"/>
              </a:rPr>
              <a:t>VS. BASELINE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Deployment — Standard Metric Summary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11480" y="1131570"/>
            <a:ext cx="831875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000"/>
              <a:buFont typeface="Calibri"/>
              <a:buNone/>
            </a:pPr>
            <a:r>
              <a:rPr lang="id" sz="1000" b="1" i="0" u="none" strike="noStrike" cap="none" dirty="0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WAJIB.  </a:t>
            </a:r>
            <a:r>
              <a:rPr lang="id" sz="1000" b="0" i="1" u="none" strike="noStrike" cap="none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Nama kolom persis seperti di bawah, satu baris per varian model yang di-deploy. Tabel ini langsung menjadi input untuk NPU reference workload table.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2"/>
          <p:cNvGraphicFramePr/>
          <p:nvPr>
            <p:extLst>
              <p:ext uri="{D42A27DB-BD31-4B8C-83A1-F6EECF244321}">
                <p14:modId xmlns:p14="http://schemas.microsoft.com/office/powerpoint/2010/main" val="284812286"/>
              </p:ext>
            </p:extLst>
          </p:nvPr>
        </p:nvGraphicFramePr>
        <p:xfrm>
          <a:off x="411480" y="1645920"/>
          <a:ext cx="8318750" cy="802350"/>
        </p:xfrm>
        <a:graphic>
          <a:graphicData uri="http://schemas.openxmlformats.org/drawingml/2006/table">
            <a:tbl>
              <a:tblPr>
                <a:noFill/>
                <a:tableStyleId>{BD4671C9-3D53-4846-A014-A546F69AEF62}</a:tableStyleId>
              </a:tblPr>
              <a:tblGrid>
                <a:gridCol w="8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6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1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7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Arch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Shape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Flash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SRAM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Cycles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id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Quantization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PPG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1D-CNN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(1000, 1)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4,088,578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16,628,484 MACs/batch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3533.58 KiB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118.83 KiB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3,567,061 </a:t>
                      </a:r>
                      <a:endParaRPr sz="1000" b="0" i="1" u="none" strike="noStrike" cap="none" dirty="0">
                        <a:solidFill>
                          <a:srgbClr val="8A6A7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68%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sz="1000" b="0" i="1" u="none" strike="noStrike" cap="none" dirty="0">
                          <a:solidFill>
                            <a:srgbClr val="8A6A7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INT8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CBD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1" name="Google Shape;241;p22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6.</a:t>
            </a:r>
            <a:r>
              <a:rPr lang="id" sz="2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Deployment Notes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11480" y="1200150"/>
            <a:ext cx="8318754" cy="1337310"/>
          </a:xfrm>
          <a:prstGeom prst="roundRect">
            <a:avLst>
              <a:gd name="adj" fmla="val 3077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82930" y="130987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2930" y="1556766"/>
            <a:ext cx="7975854" cy="84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Kuantisasi PTQ (TensorFlow Lite, INT8), model di-compile dengan Arm Vela Compiler untuk Ethos-U55 (64 MACs/siklus, 500 MHz, Shared SRAM). Utilisasi NPU 100% (34 operator, 0% fallback CPU); 19 operator digabung jadi satu custom op ethos-u di runtime TFLM. Flash 3533.58 KiB (QSPI eksternal), Tensor Arena ~119.2 KiB. Latency diukur via PMU pada simulasi Corstone-300 / chip Himax HX6538: 3.568.050 siklus total → ~7,14 ms/inferensi @500MHz.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11480" y="2674620"/>
            <a:ext cx="8318754" cy="92583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EFD8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82930" y="278434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82930" y="3031236"/>
            <a:ext cx="7975854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404040"/>
              </a:buClr>
              <a:buSzPts val="1000"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Board fisik Grove Vision AI V2: sensor MAX30102 dibaca via I2C, difilter (biquad) &amp; dinormalisasi (Z-score) di firmware C, lalu diinferensi oleh NPU Ethos-U. Hasil kelas &amp; skor dikirim via UART/picocom pada baudrate 921600.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11480" y="3806190"/>
            <a:ext cx="1554022" cy="582930"/>
          </a:xfrm>
          <a:prstGeom prst="roundRect">
            <a:avLst>
              <a:gd name="adj" fmla="val 7059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480060" y="3806190"/>
            <a:ext cx="1416862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Kuantisasi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102663" y="3806190"/>
            <a:ext cx="1554022" cy="582930"/>
          </a:xfrm>
          <a:prstGeom prst="roundRect">
            <a:avLst>
              <a:gd name="adj" fmla="val 7059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2171243" y="3806190"/>
            <a:ext cx="1416863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Toolchain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793846" y="3806190"/>
            <a:ext cx="1554022" cy="582930"/>
          </a:xfrm>
          <a:prstGeom prst="roundRect">
            <a:avLst>
              <a:gd name="adj" fmla="val 7059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3862426" y="3806190"/>
            <a:ext cx="1416863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NPU utilisasi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485028" y="3806190"/>
            <a:ext cx="1554023" cy="582930"/>
          </a:xfrm>
          <a:prstGeom prst="roundRect">
            <a:avLst>
              <a:gd name="adj" fmla="val 7059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553608" y="3806190"/>
            <a:ext cx="1416863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Memory footprint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7176212" y="3806190"/>
            <a:ext cx="1554022" cy="582930"/>
          </a:xfrm>
          <a:prstGeom prst="roundRect">
            <a:avLst>
              <a:gd name="adj" fmla="val 7059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244792" y="3806190"/>
            <a:ext cx="1416863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r>
              <a:rPr lang="id" sz="800" b="1" i="0" u="none" strike="noStrike" cap="none">
                <a:solidFill>
                  <a:srgbClr val="7A1220"/>
                </a:solidFill>
                <a:latin typeface="Calibri"/>
                <a:ea typeface="Calibri"/>
                <a:cs typeface="Calibri"/>
                <a:sym typeface="Calibri"/>
              </a:rPr>
              <a:t>Metode ukur latency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411480" y="377190"/>
            <a:ext cx="61722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id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1200150" y="377190"/>
            <a:ext cx="7530084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2300"/>
              <a:buFont typeface="Cambria"/>
              <a:buNone/>
            </a:pPr>
            <a:r>
              <a:rPr lang="id" sz="2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Conclusion + Challenges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11480" y="1200150"/>
            <a:ext cx="8318754" cy="1165860"/>
          </a:xfrm>
          <a:prstGeom prst="roundRect">
            <a:avLst>
              <a:gd name="adj" fmla="val 3529"/>
            </a:avLst>
          </a:prstGeom>
          <a:solidFill>
            <a:srgbClr val="F7EBEE"/>
          </a:solidFill>
          <a:ln w="12700" cap="flat" cmpd="sng">
            <a:solidFill>
              <a:srgbClr val="E9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82930" y="1309878"/>
            <a:ext cx="79758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82930" y="1556766"/>
            <a:ext cx="7975854" cy="67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lang="id" sz="1000" i="1" dirty="0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Deployment 1D-CNN untuk deteksi AF pada Ethos-U55 berhasil berjalan on-device dengan latensi sangat rendah (~7,14 ms); penurunan performa akibat kuantisasi INT8 kecil (F1 AF -0,02). Kendala utama: presisi kelas AF rendah (0,12) akibat False Positive tinggi, dipicu ketimpangan rasio data &amp; sinyal PPG tunggal.</a:t>
            </a:r>
            <a:endParaRPr sz="1000" i="1" dirty="0">
              <a:solidFill>
                <a:srgbClr val="8A6A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411480" y="2571750"/>
            <a:ext cx="2635758" cy="1714500"/>
          </a:xfrm>
          <a:prstGeom prst="roundRect">
            <a:avLst>
              <a:gd name="adj" fmla="val 3200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651510" y="2811780"/>
            <a:ext cx="342900" cy="342900"/>
          </a:xfrm>
          <a:prstGeom prst="ellipse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51510" y="281178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id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51510" y="3291840"/>
            <a:ext cx="21556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300"/>
              <a:buFont typeface="Cambria"/>
              <a:buNone/>
            </a:pPr>
            <a:r>
              <a:rPr lang="id" sz="1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Berhasil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651510" y="363474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Inferensi on-device penuh di NPU, latensi ~7,14 ms; penurunan performa akibat kuantisasi INT8 kecil (F1 AF -0,02)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3252978" y="2571750"/>
            <a:ext cx="2635758" cy="1714500"/>
          </a:xfrm>
          <a:prstGeom prst="roundRect">
            <a:avLst>
              <a:gd name="adj" fmla="val 3200"/>
            </a:avLst>
          </a:prstGeom>
          <a:solidFill>
            <a:srgbClr val="FBF4F6"/>
          </a:solidFill>
          <a:ln w="12700" cap="flat" cmpd="sng">
            <a:solidFill>
              <a:srgbClr val="EAD3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3493008" y="2811780"/>
            <a:ext cx="342900" cy="342900"/>
          </a:xfrm>
          <a:prstGeom prst="ellipse">
            <a:avLst/>
          </a:prstGeom>
          <a:solidFill>
            <a:srgbClr val="7A122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3493008" y="281178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id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3493008" y="3291840"/>
            <a:ext cx="21556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300"/>
              <a:buFont typeface="Cambria"/>
              <a:buNone/>
            </a:pPr>
            <a:r>
              <a:rPr lang="id" sz="13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Kendala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3493008" y="363474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1000"/>
              <a:buFont typeface="Calibri"/>
              <a:buNone/>
            </a:pPr>
            <a:r>
              <a:rPr lang="id" sz="1000" b="0" i="1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Presisi kelas AF rendah (0,12) akibat False Positive tinggi — dipicu rasio data non-AF:AF ~12:1 dan sinyal PPG tunggal tanpa IMU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094476" y="2571750"/>
            <a:ext cx="2635758" cy="1714500"/>
          </a:xfrm>
          <a:prstGeom prst="roundRect">
            <a:avLst>
              <a:gd name="adj" fmla="val 3200"/>
            </a:avLst>
          </a:prstGeom>
          <a:solidFill>
            <a:srgbClr val="7A1220"/>
          </a:solidFill>
          <a:ln w="12700" cap="flat" cmpd="sng">
            <a:solidFill>
              <a:srgbClr val="7A12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6334506" y="2811780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6334506" y="281178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1220"/>
              </a:buClr>
              <a:buSzPts val="1400"/>
              <a:buFont typeface="Cambria"/>
              <a:buNone/>
            </a:pPr>
            <a:r>
              <a:rPr lang="id" sz="1400" b="1" i="0" u="none" strike="noStrike" cap="none">
                <a:solidFill>
                  <a:srgbClr val="7A122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334506" y="3291840"/>
            <a:ext cx="21556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id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Untuk intern berikutnya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6334506" y="3634740"/>
            <a:ext cx="21556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DD5"/>
              </a:buClr>
              <a:buSzPts val="1000"/>
              <a:buFont typeface="Calibri"/>
              <a:buNone/>
            </a:pPr>
            <a:r>
              <a:rPr lang="id" sz="1000" b="0" i="1" u="none" strike="noStrike" cap="none">
                <a:solidFill>
                  <a:srgbClr val="F0CDD5"/>
                </a:solidFill>
                <a:latin typeface="Calibri"/>
                <a:ea typeface="Calibri"/>
                <a:cs typeface="Calibri"/>
                <a:sym typeface="Calibri"/>
              </a:rPr>
              <a:t>Eksplorasi ambang/kalibrasi untuk turunkan False Positive; pertimbangkan sensor IMU tambahan bila kompatibilitas dataset publik bukan prioritas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11480" y="481431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ICDeC — Final Report Template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8044434" y="4814316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6A70"/>
              </a:buClr>
              <a:buSzPts val="700"/>
              <a:buFont typeface="Calibri"/>
              <a:buNone/>
            </a:pPr>
            <a:r>
              <a:rPr lang="id" sz="700" b="0" i="0" u="none" strike="noStrike" cap="none">
                <a:solidFill>
                  <a:srgbClr val="8A6A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249" y="0"/>
            <a:ext cx="1163763" cy="104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0B1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0" y="185166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lang="id" sz="3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Terima Kasih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0" y="2606040"/>
            <a:ext cx="91417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C9D0"/>
              </a:buClr>
              <a:buSzPts val="1500"/>
              <a:buFont typeface="Calibri"/>
              <a:buNone/>
            </a:pPr>
            <a:r>
              <a:rPr lang="id" sz="1500" b="0" i="1" u="none" strike="noStrike" cap="none">
                <a:solidFill>
                  <a:srgbClr val="E7C9D0"/>
                </a:solidFill>
                <a:latin typeface="Calibri"/>
                <a:ea typeface="Calibri"/>
                <a:cs typeface="Calibri"/>
                <a:sym typeface="Calibri"/>
              </a:rPr>
              <a:t>Pertanyaan &amp; diskusi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0" y="4594860"/>
            <a:ext cx="914171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304A"/>
              </a:buClr>
              <a:buSzPts val="900"/>
              <a:buFont typeface="Calibri"/>
              <a:buNone/>
            </a:pPr>
            <a:r>
              <a:rPr lang="id" sz="900" b="0" i="0" u="none" strike="noStrike" cap="none">
                <a:solidFill>
                  <a:srgbClr val="B0304A"/>
                </a:solidFill>
                <a:latin typeface="Calibri"/>
                <a:ea typeface="Calibri"/>
                <a:cs typeface="Calibri"/>
                <a:sym typeface="Calibri"/>
              </a:rPr>
              <a:t>ICDeC — Final Report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953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Dimas Anggiat</cp:lastModifiedBy>
  <cp:revision>2</cp:revision>
  <dcterms:modified xsi:type="dcterms:W3CDTF">2026-07-31T03:19:14Z</dcterms:modified>
</cp:coreProperties>
</file>